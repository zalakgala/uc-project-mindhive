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9" r:id="rId3"/>
    <p:sldId id="277" r:id="rId4"/>
    <p:sldId id="273" r:id="rId5"/>
    <p:sldId id="260" r:id="rId6"/>
    <p:sldId id="283" r:id="rId7"/>
    <p:sldId id="282" r:id="rId8"/>
    <p:sldId id="284" r:id="rId9"/>
    <p:sldId id="286" r:id="rId10"/>
    <p:sldId id="281" r:id="rId11"/>
    <p:sldId id="267" r:id="rId12"/>
    <p:sldId id="275" r:id="rId13"/>
    <p:sldId id="280" r:id="rId14"/>
    <p:sldId id="278" r:id="rId15"/>
    <p:sldId id="257" r:id="rId16"/>
    <p:sldId id="274" r:id="rId17"/>
    <p:sldId id="279" r:id="rId18"/>
    <p:sldId id="263" r:id="rId19"/>
    <p:sldId id="270" r:id="rId20"/>
    <p:sldId id="271" r:id="rId21"/>
    <p:sldId id="272" r:id="rId2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22" autoAdjust="0"/>
  </p:normalViewPr>
  <p:slideViewPr>
    <p:cSldViewPr>
      <p:cViewPr varScale="1">
        <p:scale>
          <a:sx n="47" d="100"/>
          <a:sy n="47" d="100"/>
        </p:scale>
        <p:origin x="464"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68549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96134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4394-B4D1-74D6-9F55-B11AA2106AF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2957DE0-63F3-4E5A-0ECD-86B2633DBBD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BC48AF9-B537-5C6B-04F7-750B08E89B5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4DEF952-12C7-3BF8-2B73-6BA332306B3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F730770-B68F-B09E-08C7-D1DF6065BC4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6D5D5662-0DCB-590B-62BC-BCD50492816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168CD05-3F29-7CE9-A383-323902448E9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21060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30F7B-B6B2-49AA-EFFD-2F1909672F8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1A367D-BBAF-A18F-FF64-66CE8B965D0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7CB771F-F0E7-4BED-7691-967BD5FD077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05F8065-935B-45CD-3E1F-FFE3702D661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CFA9D09-2E32-EE81-0D30-6B667F614EA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94384141-CECD-3A19-BCAC-50E8BA8C7AF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4FFDCBA-B6FC-A13C-03DE-B8ADDC772E0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58241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DD764-575C-454A-707A-11C1F757C17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34E659-02B1-4D27-766C-B4214628498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41B85B9-A391-A237-412A-71D2596AF98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7611C5B-A1D5-8076-A93A-98B88100483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826A215-C8D9-41AE-D720-5CC1A306941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F98CE7C8-10E7-F92E-74D5-51AFB72615A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99D3404-A8AF-4BC1-AC4F-6C31AED7B4C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34257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0FCC5-E5FB-3FE7-998F-31D540369CB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1F57DB-566E-7B47-1CAF-25BE7006A84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A59FE1C-C0C4-6B73-4744-7A150F4253F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187C646-FCCF-3A33-35AD-1026465C0DA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3A24049-3CA6-5033-198C-D1C1FC1336F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F7D0F81D-90B8-7A3D-D2F1-A314CE35FA2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439F143-D4E1-3117-F7BB-DE90B114017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20780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18344-A671-402A-FE1A-0013E764D06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338E17-CD17-1138-2B8E-89084888B31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8599CDF-C2FB-061F-A6C8-3A2189BBAD4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82F2A5D-C55A-DA5C-DD1C-7D73D8F0297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695B283-A766-AEE8-FE5A-93D68706DBA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C27806B8-E00C-FA21-290A-B1D2075F84E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D56286D-BA52-050B-B7F0-353A5BA2905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24473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90903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48461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F2934-904A-F3D6-FE32-0E566BDF446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7F6D551-6343-EE5B-87BA-D5DE382E019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6465860-60E1-EF93-F114-0165090B5F4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74CEC06-EE49-200E-2E05-5BDA053754D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69A25F1-4E84-6A4E-D784-22554ECC373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5BC3CA5D-270B-E3E4-5CF7-99080C10735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319AA66-A5ED-FEEE-8C09-B19C32F3419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53847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B8213-67D0-A7D4-6BA4-E0B5D422653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12AA9C-5D0C-E19B-CB4B-50DBF53E52B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A058BF5-4A0D-F943-8259-691C74F327B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6950133-6D22-E377-54AB-89FE8664B3D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EFE27A7-F3D7-1BBC-92CA-304D233F0BB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78895C53-1F5D-AE08-3B7F-1E75623C44E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DCE067A-0447-DD3C-0CAA-B8878FC85E3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09311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73207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20FFC-86A2-0C7F-E3AC-6FAF07AEC1F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89D700-78B4-D2A4-72E2-512BF1D8284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AE95303-632F-9133-263A-8D994DF1D8C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7849B7B-FCE7-DFF7-9628-88FDC84E45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4A255A9-0E9D-88A1-D82E-9A15440BDD6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B491A050-7B88-FF26-8E4D-449794A3B8A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1C894A2-2515-F56A-54D9-436A8D794D9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42314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89055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46062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50986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8.jpg"/></Relationships>
</file>

<file path=ppt/slides/_rels/slide18.xml.rels><?xml version="1.0" encoding="UTF-8" standalone="yes"?>
<Relationships xmlns="http://schemas.openxmlformats.org/package/2006/relationships"><Relationship Id="rId3" Type="http://schemas.openxmlformats.org/officeDocument/2006/relationships/hyperlink" Target="https://psycharchives.org/handle/20.500.12034/8771?utm_source=chatgpt.com" TargetMode="External"/><Relationship Id="rId7"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hyperlink" Target="https://www.kaggle.com/datasets/ziya07/emotional-monitoring-dataset" TargetMode="External"/><Relationship Id="rId5" Type="http://schemas.openxmlformats.org/officeDocument/2006/relationships/hyperlink" Target="https://www.kaggle.com/datasets/mdsultanulislamovi/student-stress-monitoring-datasets" TargetMode="External"/><Relationship Id="rId4" Type="http://schemas.openxmlformats.org/officeDocument/2006/relationships/hyperlink" Target="https://ieee-dataport.org/documents/moodmirror-dataset-sentiment-and-emotion-analysi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8016" y="131164"/>
            <a:ext cx="2402777" cy="2736896"/>
          </a:xfrm>
          <a:custGeom>
            <a:avLst/>
            <a:gdLst/>
            <a:ahLst/>
            <a:cxnLst/>
            <a:rect l="l" t="t" r="r" b="b"/>
            <a:pathLst>
              <a:path w="2402777" h="2736896">
                <a:moveTo>
                  <a:pt x="0" y="0"/>
                </a:moveTo>
                <a:lnTo>
                  <a:pt x="2402778" y="0"/>
                </a:lnTo>
                <a:lnTo>
                  <a:pt x="2402778" y="2736896"/>
                </a:lnTo>
                <a:lnTo>
                  <a:pt x="0" y="2736896"/>
                </a:lnTo>
                <a:lnTo>
                  <a:pt x="0" y="0"/>
                </a:lnTo>
                <a:close/>
              </a:path>
            </a:pathLst>
          </a:custGeom>
          <a:blipFill>
            <a:blip r:embed="rId2"/>
            <a:stretch>
              <a:fillRect t="-8850" r="-298827" b="-5527"/>
            </a:stretch>
          </a:blipFill>
        </p:spPr>
      </p:sp>
      <p:sp>
        <p:nvSpPr>
          <p:cNvPr id="3" name="Freeform 3"/>
          <p:cNvSpPr/>
          <p:nvPr/>
        </p:nvSpPr>
        <p:spPr>
          <a:xfrm>
            <a:off x="15044715" y="0"/>
            <a:ext cx="3095269" cy="3006105"/>
          </a:xfrm>
          <a:custGeom>
            <a:avLst/>
            <a:gdLst/>
            <a:ahLst/>
            <a:cxnLst/>
            <a:rect l="l" t="t" r="r" b="b"/>
            <a:pathLst>
              <a:path w="3095269" h="3006105">
                <a:moveTo>
                  <a:pt x="0" y="0"/>
                </a:moveTo>
                <a:lnTo>
                  <a:pt x="3095269" y="0"/>
                </a:lnTo>
                <a:lnTo>
                  <a:pt x="3095269" y="3006105"/>
                </a:lnTo>
                <a:lnTo>
                  <a:pt x="0" y="3006105"/>
                </a:lnTo>
                <a:lnTo>
                  <a:pt x="0" y="0"/>
                </a:lnTo>
                <a:close/>
              </a:path>
            </a:pathLst>
          </a:custGeom>
          <a:blipFill>
            <a:blip r:embed="rId3"/>
            <a:stretch>
              <a:fillRect/>
            </a:stretch>
          </a:blipFill>
        </p:spPr>
      </p:sp>
      <p:sp>
        <p:nvSpPr>
          <p:cNvPr id="6" name="TextBox 6"/>
          <p:cNvSpPr txBox="1"/>
          <p:nvPr/>
        </p:nvSpPr>
        <p:spPr>
          <a:xfrm>
            <a:off x="2733818" y="544097"/>
            <a:ext cx="11850146" cy="2500108"/>
          </a:xfrm>
          <a:prstGeom prst="rect">
            <a:avLst/>
          </a:prstGeom>
        </p:spPr>
        <p:txBody>
          <a:bodyPr lIns="0" tIns="0" rIns="0" bIns="0" rtlCol="0" anchor="t">
            <a:spAutoFit/>
          </a:bodyPr>
          <a:lstStyle/>
          <a:p>
            <a:pPr algn="ctr">
              <a:lnSpc>
                <a:spcPts val="4450"/>
              </a:lnSpc>
            </a:pPr>
            <a:r>
              <a:rPr lang="en-US" sz="3371" b="1" dirty="0">
                <a:solidFill>
                  <a:srgbClr val="3C5D72"/>
                </a:solidFill>
                <a:latin typeface="Canva Sans Bold"/>
                <a:ea typeface="Canva Sans Bold"/>
                <a:cs typeface="Canva Sans Bold"/>
                <a:sym typeface="Canva Sans Bold"/>
              </a:rPr>
              <a:t>Department of Computer Engineering</a:t>
            </a:r>
          </a:p>
          <a:p>
            <a:pPr algn="ctr">
              <a:lnSpc>
                <a:spcPts val="4450"/>
              </a:lnSpc>
            </a:pPr>
            <a:r>
              <a:rPr lang="en-US" sz="3371" b="1" dirty="0">
                <a:solidFill>
                  <a:srgbClr val="3C5D72"/>
                </a:solidFill>
                <a:latin typeface="Canva Sans Bold"/>
                <a:ea typeface="Canva Sans Bold"/>
                <a:cs typeface="Canva Sans Bold"/>
                <a:sym typeface="Canva Sans Bold"/>
              </a:rPr>
              <a:t>DJSCE</a:t>
            </a:r>
          </a:p>
          <a:p>
            <a:pPr algn="ctr">
              <a:lnSpc>
                <a:spcPts val="4450"/>
              </a:lnSpc>
            </a:pPr>
            <a:r>
              <a:rPr lang="en-US" sz="3371" b="1" dirty="0">
                <a:solidFill>
                  <a:srgbClr val="3C5D72"/>
                </a:solidFill>
                <a:latin typeface="Canva Sans Bold"/>
                <a:ea typeface="Canva Sans Bold"/>
                <a:cs typeface="Canva Sans Bold"/>
                <a:sym typeface="Canva Sans Bold"/>
              </a:rPr>
              <a:t>Mumbai University</a:t>
            </a:r>
          </a:p>
          <a:p>
            <a:pPr algn="ctr">
              <a:lnSpc>
                <a:spcPts val="3682"/>
              </a:lnSpc>
            </a:pPr>
            <a:r>
              <a:rPr lang="en-US" sz="2790" b="1" dirty="0">
                <a:solidFill>
                  <a:srgbClr val="3C5D72"/>
                </a:solidFill>
                <a:latin typeface="Canva Sans Bold"/>
                <a:ea typeface="Canva Sans Bold"/>
                <a:cs typeface="Canva Sans Bold"/>
                <a:sym typeface="Canva Sans Bold"/>
              </a:rPr>
              <a:t>2025-26</a:t>
            </a:r>
          </a:p>
          <a:p>
            <a:pPr algn="ctr">
              <a:lnSpc>
                <a:spcPts val="2148"/>
              </a:lnSpc>
            </a:pPr>
            <a:endParaRPr lang="en-US" sz="2790" b="1" dirty="0">
              <a:solidFill>
                <a:srgbClr val="3C5D72"/>
              </a:solidFill>
              <a:latin typeface="Canva Sans Bold"/>
              <a:ea typeface="Canva Sans Bold"/>
              <a:cs typeface="Canva Sans Bold"/>
              <a:sym typeface="Canva Sans Bold"/>
            </a:endParaRPr>
          </a:p>
        </p:txBody>
      </p:sp>
      <p:sp>
        <p:nvSpPr>
          <p:cNvPr id="12" name="TextBox 8"/>
          <p:cNvSpPr txBox="1"/>
          <p:nvPr/>
        </p:nvSpPr>
        <p:spPr>
          <a:xfrm>
            <a:off x="5200851" y="7116517"/>
            <a:ext cx="4025890" cy="923330"/>
          </a:xfrm>
          <a:prstGeom prst="rect">
            <a:avLst/>
          </a:prstGeom>
        </p:spPr>
        <p:txBody>
          <a:bodyPr wrap="square" lIns="0" tIns="0" rIns="0" bIns="0" rtlCol="0" anchor="t">
            <a:spAutoFit/>
          </a:bodyPr>
          <a:lstStyle/>
          <a:p>
            <a:pPr algn="ctr">
              <a:lnSpc>
                <a:spcPts val="3110"/>
              </a:lnSpc>
            </a:pPr>
            <a:r>
              <a:rPr lang="en-US" sz="3200" b="1" dirty="0">
                <a:solidFill>
                  <a:srgbClr val="3D5D71"/>
                </a:solidFill>
                <a:latin typeface="Canva Sans Bold"/>
                <a:ea typeface="Canva Sans Bold"/>
                <a:cs typeface="Canva Sans Bold"/>
                <a:sym typeface="Canva Sans Bold"/>
              </a:rPr>
              <a:t>Bhavika Boddireddy </a:t>
            </a:r>
          </a:p>
          <a:p>
            <a:pPr algn="ctr">
              <a:lnSpc>
                <a:spcPts val="4147"/>
              </a:lnSpc>
            </a:pPr>
            <a:r>
              <a:rPr lang="en-US" sz="3200" b="1" dirty="0">
                <a:solidFill>
                  <a:srgbClr val="3D5D71"/>
                </a:solidFill>
                <a:latin typeface="Canva Sans Bold"/>
                <a:ea typeface="Canva Sans Bold"/>
                <a:cs typeface="Canva Sans Bold"/>
                <a:sym typeface="Canva Sans Bold"/>
              </a:rPr>
              <a:t>60004240061 </a:t>
            </a:r>
          </a:p>
        </p:txBody>
      </p:sp>
      <p:sp>
        <p:nvSpPr>
          <p:cNvPr id="13" name="TextBox 8"/>
          <p:cNvSpPr txBox="1"/>
          <p:nvPr/>
        </p:nvSpPr>
        <p:spPr>
          <a:xfrm>
            <a:off x="9529410" y="7116517"/>
            <a:ext cx="3589613" cy="923330"/>
          </a:xfrm>
          <a:prstGeom prst="rect">
            <a:avLst/>
          </a:prstGeom>
        </p:spPr>
        <p:txBody>
          <a:bodyPr lIns="0" tIns="0" rIns="0" bIns="0" rtlCol="0" anchor="t">
            <a:spAutoFit/>
          </a:bodyPr>
          <a:lstStyle/>
          <a:p>
            <a:pPr algn="ctr">
              <a:lnSpc>
                <a:spcPts val="3110"/>
              </a:lnSpc>
            </a:pPr>
            <a:r>
              <a:rPr lang="en-US" sz="3200" b="1" dirty="0">
                <a:solidFill>
                  <a:srgbClr val="3D5D71"/>
                </a:solidFill>
                <a:latin typeface="Canva Sans Bold"/>
                <a:ea typeface="Canva Sans Bold"/>
                <a:cs typeface="Canva Sans Bold"/>
                <a:sym typeface="Canva Sans Bold"/>
              </a:rPr>
              <a:t>Palak Shah</a:t>
            </a:r>
          </a:p>
          <a:p>
            <a:pPr algn="ctr">
              <a:lnSpc>
                <a:spcPts val="4147"/>
              </a:lnSpc>
            </a:pPr>
            <a:r>
              <a:rPr lang="en-US" sz="3200" b="1" dirty="0">
                <a:solidFill>
                  <a:srgbClr val="3D5D71"/>
                </a:solidFill>
                <a:latin typeface="Canva Sans Bold"/>
                <a:ea typeface="Canva Sans Bold"/>
                <a:cs typeface="Canva Sans Bold"/>
                <a:sym typeface="Canva Sans Bold"/>
              </a:rPr>
              <a:t>60004240196</a:t>
            </a:r>
          </a:p>
        </p:txBody>
      </p:sp>
      <p:sp>
        <p:nvSpPr>
          <p:cNvPr id="14" name="TextBox 8"/>
          <p:cNvSpPr txBox="1"/>
          <p:nvPr/>
        </p:nvSpPr>
        <p:spPr>
          <a:xfrm>
            <a:off x="13479187" y="7116517"/>
            <a:ext cx="3589613" cy="923330"/>
          </a:xfrm>
          <a:prstGeom prst="rect">
            <a:avLst/>
          </a:prstGeom>
        </p:spPr>
        <p:txBody>
          <a:bodyPr lIns="0" tIns="0" rIns="0" bIns="0" rtlCol="0" anchor="t">
            <a:spAutoFit/>
          </a:bodyPr>
          <a:lstStyle/>
          <a:p>
            <a:pPr algn="ctr">
              <a:lnSpc>
                <a:spcPts val="3110"/>
              </a:lnSpc>
            </a:pPr>
            <a:r>
              <a:rPr lang="en-US" sz="3200" b="1" dirty="0">
                <a:solidFill>
                  <a:srgbClr val="3D5D71"/>
                </a:solidFill>
                <a:latin typeface="Canva Sans Bold"/>
                <a:ea typeface="Canva Sans Bold"/>
                <a:cs typeface="Canva Sans Bold"/>
                <a:sym typeface="Canva Sans Bold"/>
              </a:rPr>
              <a:t>Jiya Shah </a:t>
            </a:r>
          </a:p>
          <a:p>
            <a:pPr algn="ctr">
              <a:lnSpc>
                <a:spcPts val="4147"/>
              </a:lnSpc>
            </a:pPr>
            <a:r>
              <a:rPr lang="en-US" sz="3200" b="1" dirty="0">
                <a:solidFill>
                  <a:srgbClr val="3D5D71"/>
                </a:solidFill>
                <a:latin typeface="Canva Sans Bold"/>
                <a:ea typeface="Canva Sans Bold"/>
                <a:cs typeface="Canva Sans Bold"/>
                <a:sym typeface="Canva Sans Bold"/>
              </a:rPr>
              <a:t>60004240095</a:t>
            </a:r>
          </a:p>
        </p:txBody>
      </p:sp>
      <p:sp>
        <p:nvSpPr>
          <p:cNvPr id="15" name="TextBox 5"/>
          <p:cNvSpPr txBox="1"/>
          <p:nvPr/>
        </p:nvSpPr>
        <p:spPr>
          <a:xfrm>
            <a:off x="2581273" y="8648700"/>
            <a:ext cx="11963400" cy="1192634"/>
          </a:xfrm>
          <a:prstGeom prst="rect">
            <a:avLst/>
          </a:prstGeom>
        </p:spPr>
        <p:txBody>
          <a:bodyPr wrap="square" lIns="0" tIns="0" rIns="0" bIns="0" rtlCol="0" anchor="t">
            <a:spAutoFit/>
          </a:bodyPr>
          <a:lstStyle/>
          <a:p>
            <a:pPr algn="ctr">
              <a:lnSpc>
                <a:spcPts val="2520"/>
              </a:lnSpc>
            </a:pPr>
            <a:r>
              <a:rPr lang="en-US" sz="2100" i="1" dirty="0">
                <a:solidFill>
                  <a:srgbClr val="3D5D71"/>
                </a:solidFill>
                <a:latin typeface="Canva Sans Italics"/>
                <a:ea typeface="Canva Sans Italics"/>
                <a:cs typeface="Canva Sans Italics"/>
                <a:sym typeface="Canva Sans Italics"/>
              </a:rPr>
              <a:t>Under the guidance of</a:t>
            </a:r>
          </a:p>
          <a:p>
            <a:pPr algn="ctr">
              <a:lnSpc>
                <a:spcPts val="4320"/>
              </a:lnSpc>
            </a:pPr>
            <a:r>
              <a:rPr lang="en-US" sz="3600" b="1" dirty="0">
                <a:solidFill>
                  <a:srgbClr val="3D5D71"/>
                </a:solidFill>
                <a:latin typeface="Canva Sans Bold"/>
                <a:ea typeface="Canva Sans Bold"/>
                <a:cs typeface="Canva Sans Bold"/>
                <a:sym typeface="Canva Sans Bold"/>
              </a:rPr>
              <a:t>Prof. Nancy Nadar</a:t>
            </a:r>
          </a:p>
          <a:p>
            <a:pPr algn="ctr">
              <a:lnSpc>
                <a:spcPts val="2520"/>
              </a:lnSpc>
            </a:pPr>
            <a:r>
              <a:rPr lang="en-US" sz="2100" dirty="0">
                <a:solidFill>
                  <a:srgbClr val="3D5D71"/>
                </a:solidFill>
                <a:latin typeface="Canva Sans"/>
                <a:ea typeface="Canva Sans"/>
                <a:cs typeface="Canva Sans"/>
                <a:sym typeface="Canva Sans"/>
              </a:rPr>
              <a:t>Project Guide</a:t>
            </a:r>
          </a:p>
        </p:txBody>
      </p:sp>
      <p:grpSp>
        <p:nvGrpSpPr>
          <p:cNvPr id="16" name="Group 7"/>
          <p:cNvGrpSpPr/>
          <p:nvPr/>
        </p:nvGrpSpPr>
        <p:grpSpPr>
          <a:xfrm>
            <a:off x="1046117" y="4562276"/>
            <a:ext cx="16130953" cy="524495"/>
            <a:chOff x="0" y="38100"/>
            <a:chExt cx="21507937" cy="699327"/>
          </a:xfrm>
        </p:grpSpPr>
        <p:sp>
          <p:nvSpPr>
            <p:cNvPr id="17" name="TextBox 8"/>
            <p:cNvSpPr txBox="1"/>
            <p:nvPr/>
          </p:nvSpPr>
          <p:spPr>
            <a:xfrm>
              <a:off x="0" y="66675"/>
              <a:ext cx="20042777" cy="538780"/>
            </a:xfrm>
            <a:prstGeom prst="rect">
              <a:avLst/>
            </a:prstGeom>
          </p:spPr>
          <p:txBody>
            <a:bodyPr wrap="square" lIns="0" tIns="0" rIns="0" bIns="0" rtlCol="0" anchor="t">
              <a:spAutoFit/>
            </a:bodyPr>
            <a:lstStyle/>
            <a:p>
              <a:pPr algn="ctr">
                <a:lnSpc>
                  <a:spcPts val="3110"/>
                </a:lnSpc>
              </a:pPr>
              <a:r>
                <a:rPr lang="en-US" sz="3200" b="1" dirty="0" err="1">
                  <a:solidFill>
                    <a:srgbClr val="3D5D71"/>
                  </a:solidFill>
                  <a:latin typeface="Canva Sans Bold"/>
                  <a:ea typeface="Canva Sans Bold"/>
                  <a:cs typeface="Canva Sans Bold"/>
                  <a:sym typeface="Canva Sans Bold"/>
                </a:rPr>
                <a:t>MindHaven</a:t>
              </a:r>
              <a:r>
                <a:rPr lang="en-US" sz="3200" b="1" dirty="0">
                  <a:solidFill>
                    <a:srgbClr val="3D5D71"/>
                  </a:solidFill>
                  <a:latin typeface="Canva Sans Bold"/>
                  <a:ea typeface="Canva Sans Bold"/>
                  <a:cs typeface="Canva Sans Bold"/>
                  <a:sym typeface="Canva Sans Bold"/>
                </a:rPr>
                <a:t>:</a:t>
              </a:r>
            </a:p>
          </p:txBody>
        </p:sp>
        <p:sp>
          <p:nvSpPr>
            <p:cNvPr id="18" name="TextBox 9"/>
            <p:cNvSpPr txBox="1"/>
            <p:nvPr/>
          </p:nvSpPr>
          <p:spPr>
            <a:xfrm>
              <a:off x="16721786" y="38100"/>
              <a:ext cx="4786151" cy="598455"/>
            </a:xfrm>
            <a:prstGeom prst="rect">
              <a:avLst/>
            </a:prstGeom>
          </p:spPr>
          <p:txBody>
            <a:bodyPr lIns="0" tIns="0" rIns="0" bIns="0" rtlCol="0" anchor="t">
              <a:spAutoFit/>
            </a:bodyPr>
            <a:lstStyle/>
            <a:p>
              <a:pPr algn="ctr">
                <a:lnSpc>
                  <a:spcPts val="3456"/>
                </a:lnSpc>
              </a:pPr>
              <a:endParaRPr lang="en-US" sz="3200" b="1" dirty="0">
                <a:solidFill>
                  <a:srgbClr val="3D5D71"/>
                </a:solidFill>
                <a:latin typeface="Canva Sans Bold"/>
                <a:ea typeface="Canva Sans Bold"/>
                <a:cs typeface="Canva Sans Bold"/>
                <a:sym typeface="Canva Sans Bold"/>
              </a:endParaRPr>
            </a:p>
          </p:txBody>
        </p:sp>
        <p:sp>
          <p:nvSpPr>
            <p:cNvPr id="19" name="TextBox 10"/>
            <p:cNvSpPr txBox="1"/>
            <p:nvPr/>
          </p:nvSpPr>
          <p:spPr>
            <a:xfrm>
              <a:off x="5662451" y="104775"/>
              <a:ext cx="5392161" cy="632652"/>
            </a:xfrm>
            <a:prstGeom prst="rect">
              <a:avLst/>
            </a:prstGeom>
          </p:spPr>
          <p:txBody>
            <a:bodyPr lIns="0" tIns="0" rIns="0" bIns="0" rtlCol="0" anchor="t">
              <a:spAutoFit/>
            </a:bodyPr>
            <a:lstStyle/>
            <a:p>
              <a:pPr algn="ctr">
                <a:lnSpc>
                  <a:spcPts val="3686"/>
                </a:lnSpc>
              </a:pPr>
              <a:endParaRPr lang="en-US" sz="3200" b="1" dirty="0">
                <a:solidFill>
                  <a:srgbClr val="3D5D71"/>
                </a:solidFill>
                <a:latin typeface="Canva Sans Bold"/>
                <a:ea typeface="Canva Sans Bold"/>
                <a:cs typeface="Canva Sans Bold"/>
                <a:sym typeface="Canva Sans Bold"/>
              </a:endParaRPr>
            </a:p>
          </p:txBody>
        </p:sp>
        <p:sp>
          <p:nvSpPr>
            <p:cNvPr id="20" name="TextBox 11"/>
            <p:cNvSpPr txBox="1"/>
            <p:nvPr/>
          </p:nvSpPr>
          <p:spPr>
            <a:xfrm>
              <a:off x="11054612" y="66675"/>
              <a:ext cx="4786151" cy="538780"/>
            </a:xfrm>
            <a:prstGeom prst="rect">
              <a:avLst/>
            </a:prstGeom>
          </p:spPr>
          <p:txBody>
            <a:bodyPr lIns="0" tIns="0" rIns="0" bIns="0" rtlCol="0" anchor="t">
              <a:spAutoFit/>
            </a:bodyPr>
            <a:lstStyle/>
            <a:p>
              <a:pPr algn="ctr">
                <a:lnSpc>
                  <a:spcPts val="3110"/>
                </a:lnSpc>
              </a:pPr>
              <a:endParaRPr lang="en-US" sz="3200" b="1" dirty="0">
                <a:solidFill>
                  <a:srgbClr val="3D5D71"/>
                </a:solidFill>
                <a:latin typeface="Canva Sans Bold"/>
                <a:ea typeface="Canva Sans Bold"/>
                <a:cs typeface="Canva Sans Bold"/>
                <a:sym typeface="Canva Sans Bold"/>
              </a:endParaRPr>
            </a:p>
          </p:txBody>
        </p:sp>
      </p:grpSp>
      <p:sp>
        <p:nvSpPr>
          <p:cNvPr id="21" name="TextBox 8"/>
          <p:cNvSpPr txBox="1"/>
          <p:nvPr/>
        </p:nvSpPr>
        <p:spPr>
          <a:xfrm>
            <a:off x="1280659" y="7116517"/>
            <a:ext cx="3589613" cy="923330"/>
          </a:xfrm>
          <a:prstGeom prst="rect">
            <a:avLst/>
          </a:prstGeom>
        </p:spPr>
        <p:txBody>
          <a:bodyPr lIns="0" tIns="0" rIns="0" bIns="0" rtlCol="0" anchor="t">
            <a:spAutoFit/>
          </a:bodyPr>
          <a:lstStyle/>
          <a:p>
            <a:pPr algn="ctr">
              <a:lnSpc>
                <a:spcPts val="3110"/>
              </a:lnSpc>
            </a:pPr>
            <a:r>
              <a:rPr lang="en-US" sz="3200" b="1" dirty="0">
                <a:solidFill>
                  <a:srgbClr val="3D5D71"/>
                </a:solidFill>
                <a:latin typeface="Canva Sans Bold"/>
                <a:ea typeface="Canva Sans Bold"/>
                <a:cs typeface="Canva Sans Bold"/>
                <a:sym typeface="Canva Sans Bold"/>
              </a:rPr>
              <a:t> Zalak Gala</a:t>
            </a:r>
          </a:p>
          <a:p>
            <a:pPr algn="ctr">
              <a:lnSpc>
                <a:spcPts val="4147"/>
              </a:lnSpc>
            </a:pPr>
            <a:r>
              <a:rPr lang="en-US" sz="3200" b="1" dirty="0">
                <a:solidFill>
                  <a:srgbClr val="3D5D71"/>
                </a:solidFill>
                <a:latin typeface="Canva Sans Bold"/>
                <a:ea typeface="Canva Sans Bold"/>
                <a:cs typeface="Canva Sans Bold"/>
                <a:sym typeface="Canva Sans Bold"/>
              </a:rPr>
              <a:t>60004240096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6535400" cy="1143000"/>
          </a:xfrm>
        </p:spPr>
        <p:txBody>
          <a:bodyPr/>
          <a:lstStyle/>
          <a:p>
            <a:r>
              <a:rPr lang="en-US" dirty="0">
                <a:latin typeface="+mn-lt"/>
              </a:rPr>
              <a:t>AGENDA</a:t>
            </a:r>
            <a:endParaRPr lang="en-IN" dirty="0">
              <a:latin typeface="+mn-lt"/>
            </a:endParaRPr>
          </a:p>
        </p:txBody>
      </p:sp>
      <p:sp>
        <p:nvSpPr>
          <p:cNvPr id="3" name="Content Placeholder 2"/>
          <p:cNvSpPr>
            <a:spLocks noGrp="1"/>
          </p:cNvSpPr>
          <p:nvPr>
            <p:ph idx="1"/>
          </p:nvPr>
        </p:nvSpPr>
        <p:spPr>
          <a:xfrm>
            <a:off x="457200" y="1600200"/>
            <a:ext cx="16764000" cy="8115300"/>
          </a:xfrm>
        </p:spPr>
        <p:txBody>
          <a:bodyPr>
            <a:normAutofit fontScale="92500" lnSpcReduction="20000"/>
          </a:bodyPr>
          <a:lstStyle/>
          <a:p>
            <a:pPr marL="742950" indent="-742950">
              <a:buFont typeface="+mj-lt"/>
              <a:buAutoNum type="arabicPeriod"/>
            </a:pPr>
            <a:r>
              <a:rPr lang="en-US" sz="4400" dirty="0"/>
              <a:t>Introduction</a:t>
            </a:r>
          </a:p>
          <a:p>
            <a:pPr marL="742950" indent="-742950">
              <a:buFont typeface="+mj-lt"/>
              <a:buAutoNum type="arabicPeriod"/>
            </a:pPr>
            <a:r>
              <a:rPr lang="en-US" sz="4400" dirty="0"/>
              <a:t>Need of the System</a:t>
            </a:r>
          </a:p>
          <a:p>
            <a:pPr marL="742950" indent="-742950">
              <a:buFont typeface="+mj-lt"/>
              <a:buAutoNum type="arabicPeriod"/>
            </a:pPr>
            <a:r>
              <a:rPr lang="en-US" sz="4400" dirty="0"/>
              <a:t>Existing Solutions</a:t>
            </a:r>
          </a:p>
          <a:p>
            <a:pPr marL="742950" indent="-742950">
              <a:buFont typeface="+mj-lt"/>
              <a:buAutoNum type="arabicPeriod"/>
            </a:pPr>
            <a:r>
              <a:rPr lang="en-US" sz="4400" dirty="0"/>
              <a:t>Field Survey</a:t>
            </a:r>
          </a:p>
          <a:p>
            <a:pPr marL="742950" indent="-742950">
              <a:buFont typeface="+mj-lt"/>
              <a:buAutoNum type="arabicPeriod"/>
            </a:pPr>
            <a:r>
              <a:rPr lang="en-US" sz="4400" dirty="0"/>
              <a:t>Literature Survey</a:t>
            </a:r>
          </a:p>
          <a:p>
            <a:pPr marL="742950" indent="-742950">
              <a:buFont typeface="+mj-lt"/>
              <a:buAutoNum type="arabicPeriod"/>
            </a:pPr>
            <a:r>
              <a:rPr lang="en-US" sz="4400" dirty="0"/>
              <a:t>Gaps identified in 3 &amp; 4 &amp; 5</a:t>
            </a:r>
          </a:p>
          <a:p>
            <a:pPr marL="742950" indent="-742950">
              <a:buFont typeface="+mj-lt"/>
              <a:buAutoNum type="arabicPeriod"/>
            </a:pPr>
            <a:r>
              <a:rPr lang="en-US" sz="4400" dirty="0"/>
              <a:t>Problem Statement</a:t>
            </a:r>
          </a:p>
          <a:p>
            <a:pPr marL="742950" indent="-742950">
              <a:buFont typeface="+mj-lt"/>
              <a:buAutoNum type="arabicPeriod"/>
            </a:pPr>
            <a:r>
              <a:rPr lang="en-US" sz="4400" dirty="0"/>
              <a:t>Proposed Solution</a:t>
            </a:r>
            <a:endParaRPr lang="en-IN" sz="4400" dirty="0"/>
          </a:p>
          <a:p>
            <a:pPr marL="742950" indent="-742950">
              <a:buFont typeface="+mj-lt"/>
              <a:buAutoNum type="arabicPeriod"/>
            </a:pPr>
            <a:r>
              <a:rPr lang="en-US" sz="4400" dirty="0"/>
              <a:t>Flow of system</a:t>
            </a:r>
          </a:p>
          <a:p>
            <a:pPr marL="742950" indent="-742950">
              <a:buFont typeface="+mj-lt"/>
              <a:buAutoNum type="arabicPeriod"/>
            </a:pPr>
            <a:r>
              <a:rPr lang="en-US" sz="4400" dirty="0"/>
              <a:t>Data sources </a:t>
            </a:r>
          </a:p>
          <a:p>
            <a:pPr marL="742950" indent="-742950">
              <a:buFont typeface="+mj-lt"/>
              <a:buAutoNum type="arabicPeriod"/>
            </a:pPr>
            <a:r>
              <a:rPr lang="en-US" sz="4400" dirty="0"/>
              <a:t>References </a:t>
            </a:r>
          </a:p>
          <a:p>
            <a:pPr marL="742950" indent="-742950">
              <a:buFont typeface="+mj-lt"/>
              <a:buAutoNum type="arabicPeriod"/>
            </a:pPr>
            <a:r>
              <a:rPr lang="en-US" sz="4400" dirty="0"/>
              <a:t>Conclusion </a:t>
            </a:r>
            <a:endParaRPr lang="en-IN" sz="4400" dirty="0"/>
          </a:p>
        </p:txBody>
      </p:sp>
    </p:spTree>
    <p:extLst>
      <p:ext uri="{BB962C8B-B14F-4D97-AF65-F5344CB8AC3E}">
        <p14:creationId xmlns:p14="http://schemas.microsoft.com/office/powerpoint/2010/main" val="2650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19050" y="-19050"/>
            <a:ext cx="18287998" cy="865389"/>
            <a:chOff x="0" y="0"/>
            <a:chExt cx="24383998" cy="1153852"/>
          </a:xfrm>
        </p:grpSpPr>
        <p:sp>
          <p:nvSpPr>
            <p:cNvPr id="8" name="Freeform 8"/>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9" name="TextBox 9"/>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1" name="Group 11"/>
          <p:cNvGrpSpPr/>
          <p:nvPr/>
        </p:nvGrpSpPr>
        <p:grpSpPr>
          <a:xfrm>
            <a:off x="0" y="576350"/>
            <a:ext cx="18288000" cy="904701"/>
            <a:chOff x="0" y="0"/>
            <a:chExt cx="24384000" cy="1206268"/>
          </a:xfrm>
        </p:grpSpPr>
        <p:sp>
          <p:nvSpPr>
            <p:cNvPr id="12" name="Freeform 12"/>
            <p:cNvSpPr/>
            <p:nvPr/>
          </p:nvSpPr>
          <p:spPr>
            <a:xfrm>
              <a:off x="0" y="0"/>
              <a:ext cx="24384000" cy="1206204"/>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13" name="TextBox 13"/>
            <p:cNvSpPr txBox="1"/>
            <p:nvPr/>
          </p:nvSpPr>
          <p:spPr>
            <a:xfrm>
              <a:off x="0" y="47625"/>
              <a:ext cx="24384000" cy="1158643"/>
            </a:xfrm>
            <a:prstGeom prst="rect">
              <a:avLst/>
            </a:prstGeom>
          </p:spPr>
          <p:txBody>
            <a:bodyPr lIns="50800" tIns="50800" rIns="50800" bIns="50800" rtlCol="0" anchor="t"/>
            <a:lstStyle/>
            <a:p>
              <a:pPr algn="l">
                <a:lnSpc>
                  <a:spcPts val="4536"/>
                </a:lnSpc>
              </a:pPr>
              <a:r>
                <a:rPr lang="en-US" sz="4200" b="1" dirty="0">
                  <a:solidFill>
                    <a:srgbClr val="114B79"/>
                  </a:solidFill>
                  <a:latin typeface="Canva Sans Bold"/>
                  <a:ea typeface="Canva Sans Bold"/>
                  <a:cs typeface="Canva Sans Bold"/>
                  <a:sym typeface="Canva Sans Bold"/>
                </a:rPr>
                <a:t>Introduction</a:t>
              </a:r>
            </a:p>
          </p:txBody>
        </p:sp>
      </p:grpSp>
      <p:sp>
        <p:nvSpPr>
          <p:cNvPr id="15" name="Freeform 15"/>
          <p:cNvSpPr/>
          <p:nvPr/>
        </p:nvSpPr>
        <p:spPr>
          <a:xfrm>
            <a:off x="19051" y="-37026"/>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
        <p:nvSpPr>
          <p:cNvPr id="6"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9"/>
          <p:cNvSpPr/>
          <p:nvPr/>
        </p:nvSpPr>
        <p:spPr>
          <a:xfrm>
            <a:off x="3095623" y="2881342"/>
            <a:ext cx="12058652" cy="4524315"/>
          </a:xfrm>
          <a:prstGeom prst="rect">
            <a:avLst/>
          </a:prstGeom>
        </p:spPr>
        <p:txBody>
          <a:bodyPr wrap="square">
            <a:spAutoFit/>
          </a:bodyPr>
          <a:lstStyle/>
          <a:p>
            <a:pPr lvl="0" eaLnBrk="0" fontAlgn="base" hangingPunct="0">
              <a:spcBef>
                <a:spcPct val="0"/>
              </a:spcBef>
              <a:spcAft>
                <a:spcPct val="0"/>
              </a:spcAft>
              <a:buFontTx/>
              <a:buChar char="•"/>
            </a:pPr>
            <a:r>
              <a:rPr lang="en-US" altLang="en-US" sz="3200" dirty="0"/>
              <a:t> Students today face stress, confusion, and emotional pressure.</a:t>
            </a:r>
          </a:p>
          <a:p>
            <a:pPr lvl="0" eaLnBrk="0" fontAlgn="base" hangingPunct="0">
              <a:spcBef>
                <a:spcPct val="0"/>
              </a:spcBef>
              <a:spcAft>
                <a:spcPct val="0"/>
              </a:spcAft>
              <a:buFontTx/>
              <a:buChar char="•"/>
            </a:pPr>
            <a:r>
              <a:rPr lang="en-US" altLang="en-US" sz="3200" dirty="0"/>
              <a:t> Many hesitate to open up or lack someone to talk to.</a:t>
            </a:r>
          </a:p>
          <a:p>
            <a:pPr lvl="0" eaLnBrk="0" fontAlgn="base" hangingPunct="0">
              <a:spcBef>
                <a:spcPct val="0"/>
              </a:spcBef>
              <a:spcAft>
                <a:spcPct val="0"/>
              </a:spcAft>
              <a:buFontTx/>
              <a:buChar char="•"/>
            </a:pPr>
            <a:r>
              <a:rPr lang="en-US" altLang="en-US" sz="3200" dirty="0"/>
              <a:t> They struggle to stay consistent with habits and daily tasks.</a:t>
            </a:r>
          </a:p>
          <a:p>
            <a:pPr lvl="0" eaLnBrk="0" fontAlgn="base" hangingPunct="0">
              <a:spcBef>
                <a:spcPct val="0"/>
              </a:spcBef>
              <a:spcAft>
                <a:spcPct val="0"/>
              </a:spcAft>
              <a:buFontTx/>
              <a:buChar char="•"/>
            </a:pPr>
            <a:r>
              <a:rPr lang="en-US" altLang="en-US" sz="3200" dirty="0"/>
              <a:t> Our app gives them a safe space to share thoughts and feelings.</a:t>
            </a:r>
          </a:p>
          <a:p>
            <a:pPr lvl="0" eaLnBrk="0" fontAlgn="base" hangingPunct="0">
              <a:spcBef>
                <a:spcPct val="0"/>
              </a:spcBef>
              <a:spcAft>
                <a:spcPct val="0"/>
              </a:spcAft>
              <a:buFontTx/>
              <a:buChar char="•"/>
            </a:pPr>
            <a:r>
              <a:rPr lang="en-US" altLang="en-US" sz="3200" dirty="0"/>
              <a:t> It lets them track habits and set reminders for daily routines.</a:t>
            </a:r>
          </a:p>
          <a:p>
            <a:pPr lvl="0" eaLnBrk="0" fontAlgn="base" hangingPunct="0">
              <a:spcBef>
                <a:spcPct val="0"/>
              </a:spcBef>
              <a:spcAft>
                <a:spcPct val="0"/>
              </a:spcAft>
              <a:buFontTx/>
              <a:buChar char="•"/>
            </a:pPr>
            <a:r>
              <a:rPr lang="en-US" altLang="en-US" sz="3200" dirty="0"/>
              <a:t> A virtual AI friend allows them to vent freely without judgment.</a:t>
            </a:r>
          </a:p>
          <a:p>
            <a:pPr lvl="0" eaLnBrk="0" fontAlgn="base" hangingPunct="0">
              <a:spcBef>
                <a:spcPct val="0"/>
              </a:spcBef>
              <a:spcAft>
                <a:spcPct val="0"/>
              </a:spcAft>
              <a:buFontTx/>
              <a:buChar char="•"/>
            </a:pPr>
            <a:r>
              <a:rPr lang="en-US" altLang="en-US" sz="3200" dirty="0"/>
              <a:t> Helps students understand their emotions through regular journaling.</a:t>
            </a:r>
          </a:p>
          <a:p>
            <a:pPr lvl="0" eaLnBrk="0" fontAlgn="base" hangingPunct="0">
              <a:spcBef>
                <a:spcPct val="0"/>
              </a:spcBef>
              <a:spcAft>
                <a:spcPct val="0"/>
              </a:spcAft>
              <a:buFontTx/>
              <a:buChar char="•"/>
            </a:pPr>
            <a:r>
              <a:rPr lang="en-US" altLang="en-US" sz="3200" dirty="0"/>
              <a:t> Supports them in building small, healthy routines step by step.</a:t>
            </a:r>
          </a:p>
          <a:p>
            <a:pPr lvl="0" eaLnBrk="0" fontAlgn="base" hangingPunct="0">
              <a:spcBef>
                <a:spcPct val="0"/>
              </a:spcBef>
              <a:spcAft>
                <a:spcPct val="0"/>
              </a:spcAft>
              <a:buFontTx/>
              <a:buChar char="•"/>
            </a:pPr>
            <a:r>
              <a:rPr lang="en-US" altLang="en-US" sz="3200" dirty="0"/>
              <a:t> Brings thoughts, tasks, habits, and emotional support into one place.</a:t>
            </a:r>
            <a:endParaRPr lang="en-IN" sz="3200" dirty="0"/>
          </a:p>
        </p:txBody>
      </p:sp>
    </p:spTree>
    <p:extLst>
      <p:ext uri="{BB962C8B-B14F-4D97-AF65-F5344CB8AC3E}">
        <p14:creationId xmlns:p14="http://schemas.microsoft.com/office/powerpoint/2010/main" val="961285402"/>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19050" y="-19050"/>
            <a:ext cx="18287998" cy="865389"/>
            <a:chOff x="0" y="0"/>
            <a:chExt cx="24383998" cy="1153852"/>
          </a:xfrm>
        </p:grpSpPr>
        <p:sp>
          <p:nvSpPr>
            <p:cNvPr id="8" name="Freeform 8"/>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9" name="TextBox 9"/>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1" name="Group 11"/>
          <p:cNvGrpSpPr/>
          <p:nvPr/>
        </p:nvGrpSpPr>
        <p:grpSpPr>
          <a:xfrm>
            <a:off x="0" y="576350"/>
            <a:ext cx="18288000" cy="904701"/>
            <a:chOff x="0" y="0"/>
            <a:chExt cx="24384000" cy="1206268"/>
          </a:xfrm>
        </p:grpSpPr>
        <p:sp>
          <p:nvSpPr>
            <p:cNvPr id="12" name="Freeform 12"/>
            <p:cNvSpPr/>
            <p:nvPr/>
          </p:nvSpPr>
          <p:spPr>
            <a:xfrm>
              <a:off x="0" y="0"/>
              <a:ext cx="24384000" cy="1206204"/>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13" name="TextBox 13"/>
            <p:cNvSpPr txBox="1"/>
            <p:nvPr/>
          </p:nvSpPr>
          <p:spPr>
            <a:xfrm>
              <a:off x="0" y="47625"/>
              <a:ext cx="24384000" cy="1158643"/>
            </a:xfrm>
            <a:prstGeom prst="rect">
              <a:avLst/>
            </a:prstGeom>
          </p:spPr>
          <p:txBody>
            <a:bodyPr lIns="50800" tIns="50800" rIns="50800" bIns="50800" rtlCol="0" anchor="t"/>
            <a:lstStyle/>
            <a:p>
              <a:pPr algn="l">
                <a:lnSpc>
                  <a:spcPts val="4536"/>
                </a:lnSpc>
              </a:pPr>
              <a:r>
                <a:rPr lang="en-US" sz="4200" b="1" dirty="0">
                  <a:solidFill>
                    <a:srgbClr val="114B79"/>
                  </a:solidFill>
                  <a:latin typeface="Canva Sans Bold"/>
                  <a:ea typeface="Canva Sans Bold"/>
                  <a:cs typeface="Canva Sans Bold"/>
                  <a:sym typeface="Canva Sans Bold"/>
                </a:rPr>
                <a:t>  Need of the System </a:t>
              </a:r>
            </a:p>
          </p:txBody>
        </p:sp>
      </p:grpSp>
      <p:sp>
        <p:nvSpPr>
          <p:cNvPr id="3" name="Rectangle 2"/>
          <p:cNvSpPr/>
          <p:nvPr/>
        </p:nvSpPr>
        <p:spPr>
          <a:xfrm>
            <a:off x="1495424" y="2635121"/>
            <a:ext cx="15259050" cy="5016758"/>
          </a:xfrm>
          <a:prstGeom prst="rect">
            <a:avLst/>
          </a:prstGeom>
        </p:spPr>
        <p:txBody>
          <a:bodyPr wrap="square">
            <a:spAutoFit/>
          </a:bodyPr>
          <a:lstStyle/>
          <a:p>
            <a:pPr marL="457200" indent="-457200">
              <a:buFont typeface="Arial" panose="020B0604020202020204" pitchFamily="34" charset="0"/>
              <a:buChar char="•"/>
            </a:pPr>
            <a:r>
              <a:rPr lang="en-US" sz="3200" dirty="0"/>
              <a:t> Students face academic pressure, relationship issues, stress, and loneliness.</a:t>
            </a:r>
          </a:p>
          <a:p>
            <a:pPr marL="457200" indent="-457200">
              <a:buFont typeface="Arial" panose="020B0604020202020204" pitchFamily="34" charset="0"/>
              <a:buChar char="•"/>
            </a:pPr>
            <a:r>
              <a:rPr lang="en-US" sz="3200" dirty="0"/>
              <a:t> Many avoid sharing their feelings due to fear of judgment or not wanting to burden others.</a:t>
            </a:r>
          </a:p>
          <a:p>
            <a:pPr marL="457200" indent="-457200">
              <a:buFont typeface="Arial" panose="020B0604020202020204" pitchFamily="34" charset="0"/>
              <a:buChar char="•"/>
            </a:pPr>
            <a:r>
              <a:rPr lang="en-US" sz="3200" dirty="0"/>
              <a:t> The app offers a safe space to talk to a virtual friend anytime.</a:t>
            </a:r>
          </a:p>
          <a:p>
            <a:pPr marL="457200" indent="-457200">
              <a:buFont typeface="Arial" panose="020B0604020202020204" pitchFamily="34" charset="0"/>
              <a:buChar char="•"/>
            </a:pPr>
            <a:r>
              <a:rPr lang="en-US" sz="3200" dirty="0"/>
              <a:t> Built-in journal helps students note their thoughts easily.</a:t>
            </a:r>
          </a:p>
          <a:p>
            <a:pPr marL="457200" indent="-457200">
              <a:buFont typeface="Arial" panose="020B0604020202020204" pitchFamily="34" charset="0"/>
              <a:buChar char="•"/>
            </a:pPr>
            <a:r>
              <a:rPr lang="en-US" sz="3200" dirty="0"/>
              <a:t> Habit tracker supports building or breaking habits with reminders.</a:t>
            </a:r>
          </a:p>
          <a:p>
            <a:pPr marL="457200" indent="-457200">
              <a:buFont typeface="Arial" panose="020B0604020202020204" pitchFamily="34" charset="0"/>
              <a:buChar char="•"/>
            </a:pPr>
            <a:r>
              <a:rPr lang="en-US" sz="3200" dirty="0"/>
              <a:t> Students earn small rewards for staying consistent and can use them to customize their virtual friend.</a:t>
            </a:r>
          </a:p>
          <a:p>
            <a:pPr marL="457200" indent="-457200">
              <a:buFont typeface="Arial" panose="020B0604020202020204" pitchFamily="34" charset="0"/>
              <a:buChar char="•"/>
            </a:pPr>
            <a:r>
              <a:rPr lang="en-US" sz="3200" dirty="0"/>
              <a:t> Brings support, journaling, and habit tracking together to improve emotional well-being.</a:t>
            </a:r>
          </a:p>
        </p:txBody>
      </p:sp>
      <p:sp>
        <p:nvSpPr>
          <p:cNvPr id="10" name="Freeform 15"/>
          <p:cNvSpPr/>
          <p:nvPr/>
        </p:nvSpPr>
        <p:spPr>
          <a:xfrm>
            <a:off x="-12520" y="-19284"/>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2945605878"/>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817875" y="1377225"/>
            <a:ext cx="9309900" cy="828675"/>
          </a:xfrm>
          <a:prstGeom prst="rect">
            <a:avLst/>
          </a:prstGeom>
        </p:spPr>
        <p:txBody>
          <a:bodyPr lIns="0" tIns="0" rIns="0" bIns="0" rtlCol="0" anchor="t">
            <a:spAutoFit/>
          </a:bodyPr>
          <a:lstStyle/>
          <a:p>
            <a:pPr algn="l">
              <a:lnSpc>
                <a:spcPts val="6659"/>
              </a:lnSpc>
            </a:pPr>
            <a:r>
              <a:rPr lang="en-US" sz="5550" b="1" dirty="0">
                <a:solidFill>
                  <a:srgbClr val="3D5D71"/>
                </a:solidFill>
                <a:latin typeface="Canva Sans Bold"/>
                <a:ea typeface="Canva Sans Bold"/>
                <a:cs typeface="Canva Sans Bold"/>
                <a:sym typeface="Canva Sans Bold"/>
              </a:rPr>
              <a:t>Existing Solutions</a:t>
            </a:r>
          </a:p>
        </p:txBody>
      </p:sp>
      <p:grpSp>
        <p:nvGrpSpPr>
          <p:cNvPr id="10" name="Group 10"/>
          <p:cNvGrpSpPr/>
          <p:nvPr/>
        </p:nvGrpSpPr>
        <p:grpSpPr>
          <a:xfrm>
            <a:off x="-19050" y="-19050"/>
            <a:ext cx="18287998" cy="865389"/>
            <a:chOff x="0" y="0"/>
            <a:chExt cx="24383998" cy="1153852"/>
          </a:xfrm>
        </p:grpSpPr>
        <p:sp>
          <p:nvSpPr>
            <p:cNvPr id="11" name="Freeform 11"/>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p:cNvGrpSpPr/>
          <p:nvPr/>
        </p:nvGrpSpPr>
        <p:grpSpPr>
          <a:xfrm>
            <a:off x="0" y="555654"/>
            <a:ext cx="18288000" cy="745371"/>
            <a:chOff x="0" y="0"/>
            <a:chExt cx="24384000" cy="993828"/>
          </a:xfrm>
        </p:grpSpPr>
        <p:sp>
          <p:nvSpPr>
            <p:cNvPr id="15" name="Freeform 15"/>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a:solidFill>
                    <a:srgbClr val="114B79"/>
                  </a:solidFill>
                  <a:latin typeface="Canva Sans Bold"/>
                  <a:ea typeface="Canva Sans Bold"/>
                  <a:cs typeface="Canva Sans Bold"/>
                  <a:sym typeface="Canva Sans Bold"/>
                </a:rPr>
                <a:t>   Literature Survey - Related to Existing Systems</a:t>
              </a:r>
            </a:p>
          </p:txBody>
        </p:sp>
      </p:grpSp>
      <p:sp>
        <p:nvSpPr>
          <p:cNvPr id="2" name="Rectangle 1"/>
          <p:cNvSpPr/>
          <p:nvPr/>
        </p:nvSpPr>
        <p:spPr>
          <a:xfrm>
            <a:off x="1181100" y="3467100"/>
            <a:ext cx="15925800" cy="4031873"/>
          </a:xfrm>
          <a:prstGeom prst="rect">
            <a:avLst/>
          </a:prstGeom>
        </p:spPr>
        <p:txBody>
          <a:bodyPr wrap="square">
            <a:spAutoFit/>
          </a:bodyPr>
          <a:lstStyle/>
          <a:p>
            <a:pPr marL="342900" indent="-342900">
              <a:buFont typeface="Arial" panose="020B0604020202020204" pitchFamily="34" charset="0"/>
              <a:buChar char="•"/>
            </a:pPr>
            <a:r>
              <a:rPr lang="en-US" sz="3200" b="1" dirty="0" err="1"/>
              <a:t>Dayora</a:t>
            </a:r>
            <a:endParaRPr lang="en-US" sz="3200" b="1" dirty="0"/>
          </a:p>
          <a:p>
            <a:pPr marL="800100" lvl="1" indent="-342900">
              <a:buFont typeface="Courier New" panose="02070309020205020404" pitchFamily="49" charset="0"/>
              <a:buChar char="o"/>
            </a:pPr>
            <a:r>
              <a:rPr lang="en-US" sz="3200" b="1" dirty="0"/>
              <a:t>Description: </a:t>
            </a:r>
            <a:r>
              <a:rPr lang="en-US" sz="3200" dirty="0"/>
              <a:t>AI powered journaling and mood tracking. AI gives daily summaries and insights into mood triggers.</a:t>
            </a:r>
          </a:p>
          <a:p>
            <a:pPr marL="342900" indent="-342900">
              <a:buFont typeface="Arial" panose="020B0604020202020204" pitchFamily="34" charset="0"/>
              <a:buChar char="•"/>
            </a:pPr>
            <a:r>
              <a:rPr lang="en-US" sz="3200" b="1" dirty="0" err="1"/>
              <a:t>Woebot</a:t>
            </a:r>
            <a:endParaRPr lang="en-US" sz="3200" b="1" dirty="0"/>
          </a:p>
          <a:p>
            <a:pPr marL="800100" lvl="1" indent="-342900">
              <a:buFont typeface="Courier New" panose="02070309020205020404" pitchFamily="49" charset="0"/>
              <a:buChar char="o"/>
            </a:pPr>
            <a:r>
              <a:rPr lang="en-US" sz="3200" b="1" dirty="0"/>
              <a:t>Description: </a:t>
            </a:r>
            <a:r>
              <a:rPr lang="en-US" sz="3200" dirty="0"/>
              <a:t>AI chatbot for emotional support, journaling, mood tracking</a:t>
            </a:r>
          </a:p>
          <a:p>
            <a:pPr marL="342900" indent="-342900">
              <a:buFont typeface="Arial" panose="020B0604020202020204" pitchFamily="34" charset="0"/>
              <a:buChar char="•"/>
            </a:pPr>
            <a:r>
              <a:rPr lang="en-US" sz="3200" b="1" dirty="0" err="1"/>
              <a:t>Wysa</a:t>
            </a:r>
            <a:endParaRPr lang="en-US" sz="3200" dirty="0"/>
          </a:p>
          <a:p>
            <a:pPr marL="800100" lvl="1" indent="-342900">
              <a:buFont typeface="Courier New" panose="02070309020205020404" pitchFamily="49" charset="0"/>
              <a:buChar char="o"/>
            </a:pPr>
            <a:r>
              <a:rPr lang="en-US" sz="3200" b="1" dirty="0"/>
              <a:t>Description: </a:t>
            </a:r>
            <a:r>
              <a:rPr lang="en-US" sz="3200" dirty="0"/>
              <a:t>Conversational AI for CBT, mood tracking, habit support, self-guided interventions.</a:t>
            </a:r>
          </a:p>
        </p:txBody>
      </p:sp>
      <p:sp>
        <p:nvSpPr>
          <p:cNvPr id="13" name="Freeform 15"/>
          <p:cNvSpPr/>
          <p:nvPr/>
        </p:nvSpPr>
        <p:spPr>
          <a:xfrm>
            <a:off x="-19051" y="-3985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143A6-9A10-0B4D-D5D2-B374DEC29122}"/>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6BEBF673-52D0-7ADE-3053-9E82E874667C}"/>
              </a:ext>
            </a:extLst>
          </p:cNvPr>
          <p:cNvGrpSpPr/>
          <p:nvPr/>
        </p:nvGrpSpPr>
        <p:grpSpPr>
          <a:xfrm>
            <a:off x="-19050" y="-19050"/>
            <a:ext cx="18287998" cy="865389"/>
            <a:chOff x="0" y="0"/>
            <a:chExt cx="24383998" cy="1153852"/>
          </a:xfrm>
        </p:grpSpPr>
        <p:sp>
          <p:nvSpPr>
            <p:cNvPr id="11" name="Freeform 11">
              <a:extLst>
                <a:ext uri="{FF2B5EF4-FFF2-40B4-BE49-F238E27FC236}">
                  <a16:creationId xmlns:a16="http://schemas.microsoft.com/office/drawing/2014/main" id="{61DFBD77-8C8C-383B-5398-69F74A18DD9F}"/>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a:extLst>
                <a:ext uri="{FF2B5EF4-FFF2-40B4-BE49-F238E27FC236}">
                  <a16:creationId xmlns:a16="http://schemas.microsoft.com/office/drawing/2014/main" id="{2A640F24-381F-340A-042D-FD8E5F13A1CA}"/>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a:extLst>
              <a:ext uri="{FF2B5EF4-FFF2-40B4-BE49-F238E27FC236}">
                <a16:creationId xmlns:a16="http://schemas.microsoft.com/office/drawing/2014/main" id="{DAB3CD6F-0359-346B-B395-E06944BCC217}"/>
              </a:ext>
            </a:extLst>
          </p:cNvPr>
          <p:cNvGrpSpPr/>
          <p:nvPr/>
        </p:nvGrpSpPr>
        <p:grpSpPr>
          <a:xfrm>
            <a:off x="0" y="555654"/>
            <a:ext cx="18288000" cy="745371"/>
            <a:chOff x="0" y="0"/>
            <a:chExt cx="24384000" cy="993828"/>
          </a:xfrm>
        </p:grpSpPr>
        <p:sp>
          <p:nvSpPr>
            <p:cNvPr id="15" name="Freeform 15">
              <a:extLst>
                <a:ext uri="{FF2B5EF4-FFF2-40B4-BE49-F238E27FC236}">
                  <a16:creationId xmlns:a16="http://schemas.microsoft.com/office/drawing/2014/main" id="{8C99298B-9486-D439-98C2-FC83C59DBD17}"/>
                </a:ext>
              </a:extLst>
            </p:cNvPr>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a:extLst>
                <a:ext uri="{FF2B5EF4-FFF2-40B4-BE49-F238E27FC236}">
                  <a16:creationId xmlns:a16="http://schemas.microsoft.com/office/drawing/2014/main" id="{815BCCCE-BAEA-D9AF-9D08-C3627591CBAF}"/>
                </a:ext>
              </a:extLst>
            </p:cNvPr>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Field Survey</a:t>
              </a:r>
            </a:p>
          </p:txBody>
        </p:sp>
      </p:grpSp>
      <p:sp>
        <p:nvSpPr>
          <p:cNvPr id="13" name="Freeform 15">
            <a:extLst>
              <a:ext uri="{FF2B5EF4-FFF2-40B4-BE49-F238E27FC236}">
                <a16:creationId xmlns:a16="http://schemas.microsoft.com/office/drawing/2014/main" id="{F3F2C2F0-3805-7646-9CCD-2E093F519ECF}"/>
              </a:ext>
            </a:extLst>
          </p:cNvPr>
          <p:cNvSpPr/>
          <p:nvPr/>
        </p:nvSpPr>
        <p:spPr>
          <a:xfrm>
            <a:off x="-19051" y="-3985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pic>
        <p:nvPicPr>
          <p:cNvPr id="2052" name="Picture 4" descr="Forms response chart. Question title: Age. Number of responses: 53 responses.">
            <a:extLst>
              <a:ext uri="{FF2B5EF4-FFF2-40B4-BE49-F238E27FC236}">
                <a16:creationId xmlns:a16="http://schemas.microsoft.com/office/drawing/2014/main" id="{3E104005-4416-1C0E-1E08-456E43A843F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92" t="-1254" r="26239" b="1254"/>
          <a:stretch>
            <a:fillRect/>
          </a:stretch>
        </p:blipFill>
        <p:spPr bwMode="auto">
          <a:xfrm>
            <a:off x="228600" y="2781300"/>
            <a:ext cx="8433096" cy="493086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Forms response chart. Question title: Gender. Number of responses: 53 responses.">
            <a:extLst>
              <a:ext uri="{FF2B5EF4-FFF2-40B4-BE49-F238E27FC236}">
                <a16:creationId xmlns:a16="http://schemas.microsoft.com/office/drawing/2014/main" id="{6498F9B4-69B2-5524-76D5-C06E003DF80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659" t="5225" r="21225" b="7692"/>
          <a:stretch>
            <a:fillRect/>
          </a:stretch>
        </p:blipFill>
        <p:spPr bwMode="auto">
          <a:xfrm>
            <a:off x="9144000" y="3341731"/>
            <a:ext cx="79248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932696"/>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4100F-2B12-30DC-6106-6C9D5C789413}"/>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C8CDE19D-DC2A-5039-4E77-36320CC94238}"/>
              </a:ext>
            </a:extLst>
          </p:cNvPr>
          <p:cNvGrpSpPr/>
          <p:nvPr/>
        </p:nvGrpSpPr>
        <p:grpSpPr>
          <a:xfrm>
            <a:off x="-19050" y="-19050"/>
            <a:ext cx="18287998" cy="865389"/>
            <a:chOff x="0" y="0"/>
            <a:chExt cx="24383998" cy="1153852"/>
          </a:xfrm>
        </p:grpSpPr>
        <p:sp>
          <p:nvSpPr>
            <p:cNvPr id="11" name="Freeform 11">
              <a:extLst>
                <a:ext uri="{FF2B5EF4-FFF2-40B4-BE49-F238E27FC236}">
                  <a16:creationId xmlns:a16="http://schemas.microsoft.com/office/drawing/2014/main" id="{5894E7B7-2DC9-4D7A-8313-489BDF14C1B0}"/>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a:extLst>
                <a:ext uri="{FF2B5EF4-FFF2-40B4-BE49-F238E27FC236}">
                  <a16:creationId xmlns:a16="http://schemas.microsoft.com/office/drawing/2014/main" id="{17563B1A-AF41-E231-F8CF-526AA246929F}"/>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a:extLst>
              <a:ext uri="{FF2B5EF4-FFF2-40B4-BE49-F238E27FC236}">
                <a16:creationId xmlns:a16="http://schemas.microsoft.com/office/drawing/2014/main" id="{422456FD-CACB-4206-505F-DA5DDB7F3F48}"/>
              </a:ext>
            </a:extLst>
          </p:cNvPr>
          <p:cNvGrpSpPr/>
          <p:nvPr/>
        </p:nvGrpSpPr>
        <p:grpSpPr>
          <a:xfrm>
            <a:off x="0" y="555654"/>
            <a:ext cx="18288000" cy="745371"/>
            <a:chOff x="0" y="0"/>
            <a:chExt cx="24384000" cy="993828"/>
          </a:xfrm>
        </p:grpSpPr>
        <p:sp>
          <p:nvSpPr>
            <p:cNvPr id="15" name="Freeform 15">
              <a:extLst>
                <a:ext uri="{FF2B5EF4-FFF2-40B4-BE49-F238E27FC236}">
                  <a16:creationId xmlns:a16="http://schemas.microsoft.com/office/drawing/2014/main" id="{FB4A2051-1047-B019-991A-E93C4B2DC484}"/>
                </a:ext>
              </a:extLst>
            </p:cNvPr>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a:extLst>
                <a:ext uri="{FF2B5EF4-FFF2-40B4-BE49-F238E27FC236}">
                  <a16:creationId xmlns:a16="http://schemas.microsoft.com/office/drawing/2014/main" id="{A6216F73-E332-92E2-C3D7-5147B7BD5E5C}"/>
                </a:ext>
              </a:extLst>
            </p:cNvPr>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 Field Survey</a:t>
              </a:r>
            </a:p>
          </p:txBody>
        </p:sp>
      </p:grpSp>
      <p:sp>
        <p:nvSpPr>
          <p:cNvPr id="13" name="Freeform 15">
            <a:extLst>
              <a:ext uri="{FF2B5EF4-FFF2-40B4-BE49-F238E27FC236}">
                <a16:creationId xmlns:a16="http://schemas.microsoft.com/office/drawing/2014/main" id="{911506D3-784F-8A5D-C27F-6BC9F743C935}"/>
              </a:ext>
            </a:extLst>
          </p:cNvPr>
          <p:cNvSpPr/>
          <p:nvPr/>
        </p:nvSpPr>
        <p:spPr>
          <a:xfrm>
            <a:off x="-19051" y="-3985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pic>
        <p:nvPicPr>
          <p:cNvPr id="2054" name="Picture 6" descr="Forms response chart. Question title: 1. How often do you journal or write your thoughts?&#10;. Number of responses: 53 responses.">
            <a:extLst>
              <a:ext uri="{FF2B5EF4-FFF2-40B4-BE49-F238E27FC236}">
                <a16:creationId xmlns:a16="http://schemas.microsoft.com/office/drawing/2014/main" id="{7A0E3195-4443-D4A9-4300-81A1BA9D669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21" r="24957"/>
          <a:stretch>
            <a:fillRect/>
          </a:stretch>
        </p:blipFill>
        <p:spPr bwMode="auto">
          <a:xfrm>
            <a:off x="0" y="1267434"/>
            <a:ext cx="8305800" cy="480611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Forms response chart. Question title: 3. Do you find it difficult to track your habits or routines consistently?&#10;. Number of responses: 53 responses.">
            <a:extLst>
              <a:ext uri="{FF2B5EF4-FFF2-40B4-BE49-F238E27FC236}">
                <a16:creationId xmlns:a16="http://schemas.microsoft.com/office/drawing/2014/main" id="{30EF295A-C18B-2D92-EBDB-DED526A39A0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39" t="5473" b="11879"/>
          <a:stretch>
            <a:fillRect/>
          </a:stretch>
        </p:blipFill>
        <p:spPr bwMode="auto">
          <a:xfrm>
            <a:off x="8267177" y="1267317"/>
            <a:ext cx="9335023" cy="372378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Forms response chart. Question title: 2. How often do you forget or skip personal tasks (e.g., water intake, study goals, self-care)?&#10;. Number of responses: 53 responses.">
            <a:extLst>
              <a:ext uri="{FF2B5EF4-FFF2-40B4-BE49-F238E27FC236}">
                <a16:creationId xmlns:a16="http://schemas.microsoft.com/office/drawing/2014/main" id="{6685BBF9-ECA7-3B5B-FFD9-B65571AA957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500" t="3699" r="7918" b="9337"/>
          <a:stretch>
            <a:fillRect/>
          </a:stretch>
        </p:blipFill>
        <p:spPr bwMode="auto">
          <a:xfrm>
            <a:off x="-19051" y="6073550"/>
            <a:ext cx="9893514" cy="403597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0" descr="Forms response chart. Question title: 4. How useful would it be to have journaling, habit-tracking, and reminders in one single app?&#10;. Number of responses: 53 responses.">
            <a:extLst>
              <a:ext uri="{FF2B5EF4-FFF2-40B4-BE49-F238E27FC236}">
                <a16:creationId xmlns:a16="http://schemas.microsoft.com/office/drawing/2014/main" id="{50835EF7-F592-C9D6-C983-788910C261D0}"/>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699" t="5418" b="13045"/>
          <a:stretch>
            <a:fillRect/>
          </a:stretch>
        </p:blipFill>
        <p:spPr bwMode="auto">
          <a:xfrm>
            <a:off x="9124949" y="6636340"/>
            <a:ext cx="8820148" cy="3473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773388"/>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891D5-48A3-BBD8-E750-F2DF9BB434D7}"/>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77A5577C-D7D0-D25D-DB5D-314751055EB2}"/>
              </a:ext>
            </a:extLst>
          </p:cNvPr>
          <p:cNvGrpSpPr/>
          <p:nvPr/>
        </p:nvGrpSpPr>
        <p:grpSpPr>
          <a:xfrm>
            <a:off x="-19050" y="-19050"/>
            <a:ext cx="18287998" cy="865389"/>
            <a:chOff x="0" y="0"/>
            <a:chExt cx="24383998" cy="1153852"/>
          </a:xfrm>
        </p:grpSpPr>
        <p:sp>
          <p:nvSpPr>
            <p:cNvPr id="11" name="Freeform 11">
              <a:extLst>
                <a:ext uri="{FF2B5EF4-FFF2-40B4-BE49-F238E27FC236}">
                  <a16:creationId xmlns:a16="http://schemas.microsoft.com/office/drawing/2014/main" id="{865DF704-C10A-A74F-1B06-A4FCDF2AADFD}"/>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a:extLst>
                <a:ext uri="{FF2B5EF4-FFF2-40B4-BE49-F238E27FC236}">
                  <a16:creationId xmlns:a16="http://schemas.microsoft.com/office/drawing/2014/main" id="{E5A9358D-02CB-DC6E-3435-99C5C0EE1D02}"/>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a:extLst>
              <a:ext uri="{FF2B5EF4-FFF2-40B4-BE49-F238E27FC236}">
                <a16:creationId xmlns:a16="http://schemas.microsoft.com/office/drawing/2014/main" id="{626CB22E-E2AB-A953-2909-7A551355C924}"/>
              </a:ext>
            </a:extLst>
          </p:cNvPr>
          <p:cNvGrpSpPr/>
          <p:nvPr/>
        </p:nvGrpSpPr>
        <p:grpSpPr>
          <a:xfrm>
            <a:off x="0" y="555654"/>
            <a:ext cx="18288000" cy="745371"/>
            <a:chOff x="0" y="0"/>
            <a:chExt cx="24384000" cy="993828"/>
          </a:xfrm>
        </p:grpSpPr>
        <p:sp>
          <p:nvSpPr>
            <p:cNvPr id="15" name="Freeform 15">
              <a:extLst>
                <a:ext uri="{FF2B5EF4-FFF2-40B4-BE49-F238E27FC236}">
                  <a16:creationId xmlns:a16="http://schemas.microsoft.com/office/drawing/2014/main" id="{EB0F6EA7-2146-B778-F39D-408CAABE0EAE}"/>
                </a:ext>
              </a:extLst>
            </p:cNvPr>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a:extLst>
                <a:ext uri="{FF2B5EF4-FFF2-40B4-BE49-F238E27FC236}">
                  <a16:creationId xmlns:a16="http://schemas.microsoft.com/office/drawing/2014/main" id="{2393954C-3D0C-9C8C-1F8C-41B9A3C2D303}"/>
                </a:ext>
              </a:extLst>
            </p:cNvPr>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Field Survey</a:t>
              </a:r>
            </a:p>
          </p:txBody>
        </p:sp>
      </p:grpSp>
      <p:sp>
        <p:nvSpPr>
          <p:cNvPr id="13" name="Freeform 15">
            <a:extLst>
              <a:ext uri="{FF2B5EF4-FFF2-40B4-BE49-F238E27FC236}">
                <a16:creationId xmlns:a16="http://schemas.microsoft.com/office/drawing/2014/main" id="{0D3AEB8A-510A-AC89-9109-72D72B466BFC}"/>
              </a:ext>
            </a:extLst>
          </p:cNvPr>
          <p:cNvSpPr/>
          <p:nvPr/>
        </p:nvSpPr>
        <p:spPr>
          <a:xfrm>
            <a:off x="-19051" y="-3985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pic>
        <p:nvPicPr>
          <p:cNvPr id="4098" name="Picture 2" descr="Forms response chart. Question title: 5. When you feel stressed or overwhelmed, do you prefer talking to someone?. Number of responses: 53 responses.">
            <a:extLst>
              <a:ext uri="{FF2B5EF4-FFF2-40B4-BE49-F238E27FC236}">
                <a16:creationId xmlns:a16="http://schemas.microsoft.com/office/drawing/2014/main" id="{106702F4-F215-754A-7A33-EFA9AFCA245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17" t="3408" r="21667" b="8346"/>
          <a:stretch>
            <a:fillRect/>
          </a:stretch>
        </p:blipFill>
        <p:spPr bwMode="auto">
          <a:xfrm>
            <a:off x="0" y="1277670"/>
            <a:ext cx="8058364" cy="39624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Forms response chart. Question title: 6. How comfortable would you feel expressing personal thoughts to an AI friend?. Number of responses: 53 responses.">
            <a:extLst>
              <a:ext uri="{FF2B5EF4-FFF2-40B4-BE49-F238E27FC236}">
                <a16:creationId xmlns:a16="http://schemas.microsoft.com/office/drawing/2014/main" id="{0DEF178B-4A69-A0E7-E5F9-705855DC79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17" t="7132" r="104" b="13129"/>
          <a:stretch>
            <a:fillRect/>
          </a:stretch>
        </p:blipFill>
        <p:spPr bwMode="auto">
          <a:xfrm>
            <a:off x="8279962" y="1453385"/>
            <a:ext cx="9731847" cy="379877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Forms response chart. Question title: 7. How important is privacy to you when writing or venting your thoughts?. Number of responses: 53 responses.">
            <a:extLst>
              <a:ext uri="{FF2B5EF4-FFF2-40B4-BE49-F238E27FC236}">
                <a16:creationId xmlns:a16="http://schemas.microsoft.com/office/drawing/2014/main" id="{7BD79D2E-6D97-72AB-C0C3-7A8901C93BE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916" t="7133" b="14006"/>
          <a:stretch>
            <a:fillRect/>
          </a:stretch>
        </p:blipFill>
        <p:spPr bwMode="auto">
          <a:xfrm>
            <a:off x="20472" y="6057900"/>
            <a:ext cx="8496664" cy="3276601"/>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Forms response chart. Question title: 8. Do you wish you had a safe, private space to vent instantly during stressful moments?. Number of responses: 53 responses.">
            <a:extLst>
              <a:ext uri="{FF2B5EF4-FFF2-40B4-BE49-F238E27FC236}">
                <a16:creationId xmlns:a16="http://schemas.microsoft.com/office/drawing/2014/main" id="{1F1E29E7-4860-E932-1C36-1A456C0FCB7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917" t="7489" r="11250" b="8345"/>
          <a:stretch>
            <a:fillRect/>
          </a:stretch>
        </p:blipFill>
        <p:spPr bwMode="auto">
          <a:xfrm>
            <a:off x="8312924" y="5905500"/>
            <a:ext cx="9984457" cy="4114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363517"/>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90B53-35F2-DB53-1206-3DB0B9014D98}"/>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28E19E09-849E-0DB2-B370-245A2DEAD88C}"/>
              </a:ext>
            </a:extLst>
          </p:cNvPr>
          <p:cNvGrpSpPr/>
          <p:nvPr/>
        </p:nvGrpSpPr>
        <p:grpSpPr>
          <a:xfrm>
            <a:off x="-19050" y="-19050"/>
            <a:ext cx="18287998" cy="865389"/>
            <a:chOff x="0" y="0"/>
            <a:chExt cx="24383998" cy="1153852"/>
          </a:xfrm>
        </p:grpSpPr>
        <p:sp>
          <p:nvSpPr>
            <p:cNvPr id="11" name="Freeform 11">
              <a:extLst>
                <a:ext uri="{FF2B5EF4-FFF2-40B4-BE49-F238E27FC236}">
                  <a16:creationId xmlns:a16="http://schemas.microsoft.com/office/drawing/2014/main" id="{2F1DAE8D-665E-226D-45A0-B2AA05C69A75}"/>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a:extLst>
                <a:ext uri="{FF2B5EF4-FFF2-40B4-BE49-F238E27FC236}">
                  <a16:creationId xmlns:a16="http://schemas.microsoft.com/office/drawing/2014/main" id="{D7D4D99C-8E91-E32B-B4B9-63EA673F5C0A}"/>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a:extLst>
              <a:ext uri="{FF2B5EF4-FFF2-40B4-BE49-F238E27FC236}">
                <a16:creationId xmlns:a16="http://schemas.microsoft.com/office/drawing/2014/main" id="{B0CC8D09-C0F9-E377-5B5D-D7F476829816}"/>
              </a:ext>
            </a:extLst>
          </p:cNvPr>
          <p:cNvGrpSpPr/>
          <p:nvPr/>
        </p:nvGrpSpPr>
        <p:grpSpPr>
          <a:xfrm>
            <a:off x="0" y="555654"/>
            <a:ext cx="18288000" cy="745371"/>
            <a:chOff x="0" y="0"/>
            <a:chExt cx="24384000" cy="993828"/>
          </a:xfrm>
        </p:grpSpPr>
        <p:sp>
          <p:nvSpPr>
            <p:cNvPr id="15" name="Freeform 15">
              <a:extLst>
                <a:ext uri="{FF2B5EF4-FFF2-40B4-BE49-F238E27FC236}">
                  <a16:creationId xmlns:a16="http://schemas.microsoft.com/office/drawing/2014/main" id="{29FB5C0C-E0EC-24FD-B089-A28C606E593B}"/>
                </a:ext>
              </a:extLst>
            </p:cNvPr>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a:extLst>
                <a:ext uri="{FF2B5EF4-FFF2-40B4-BE49-F238E27FC236}">
                  <a16:creationId xmlns:a16="http://schemas.microsoft.com/office/drawing/2014/main" id="{14C72FFB-60AA-C71B-9D43-627CEB212214}"/>
                </a:ext>
              </a:extLst>
            </p:cNvPr>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Field Survey</a:t>
              </a:r>
            </a:p>
          </p:txBody>
        </p:sp>
      </p:grpSp>
      <p:sp>
        <p:nvSpPr>
          <p:cNvPr id="13" name="Freeform 15">
            <a:extLst>
              <a:ext uri="{FF2B5EF4-FFF2-40B4-BE49-F238E27FC236}">
                <a16:creationId xmlns:a16="http://schemas.microsoft.com/office/drawing/2014/main" id="{73FB8987-8A95-5A97-C4E3-9D7DF590FCA2}"/>
              </a:ext>
            </a:extLst>
          </p:cNvPr>
          <p:cNvSpPr/>
          <p:nvPr/>
        </p:nvSpPr>
        <p:spPr>
          <a:xfrm>
            <a:off x="-19051" y="-3985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pic>
        <p:nvPicPr>
          <p:cNvPr id="5130" name="Picture 10" descr="Forms response chart. Question title: 11. Would you try an app that combines journaling, habit tracking, reminders, and an AI virtual companion?. Number of responses: 53 responses.">
            <a:extLst>
              <a:ext uri="{FF2B5EF4-FFF2-40B4-BE49-F238E27FC236}">
                <a16:creationId xmlns:a16="http://schemas.microsoft.com/office/drawing/2014/main" id="{65C8DA7F-A7AC-EC3C-DC54-5844184C548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16" t="7685" r="6250" b="8605"/>
          <a:stretch>
            <a:fillRect/>
          </a:stretch>
        </p:blipFill>
        <p:spPr bwMode="auto">
          <a:xfrm>
            <a:off x="7310" y="6362700"/>
            <a:ext cx="8776952" cy="3737740"/>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Forms response chart. Question title: 12. If the app offered streaks, rewards, or progress stats, would it motivate you to use it regularly?. Number of responses: 53 responses.">
            <a:extLst>
              <a:ext uri="{FF2B5EF4-FFF2-40B4-BE49-F238E27FC236}">
                <a16:creationId xmlns:a16="http://schemas.microsoft.com/office/drawing/2014/main" id="{FB78C8ED-EA87-8C7A-5AA8-EA57A92794A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16" t="7489" r="2916" b="9336"/>
          <a:stretch>
            <a:fillRect/>
          </a:stretch>
        </p:blipFill>
        <p:spPr bwMode="auto">
          <a:xfrm>
            <a:off x="8784262" y="6362660"/>
            <a:ext cx="9534593" cy="3538965"/>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Forms response chart. Question title: 9. Which feature would you use the most in this type of app?. Number of responses: 53 responses.">
            <a:extLst>
              <a:ext uri="{FF2B5EF4-FFF2-40B4-BE49-F238E27FC236}">
                <a16:creationId xmlns:a16="http://schemas.microsoft.com/office/drawing/2014/main" id="{7237B0CB-2F6B-48D1-0873-6F6089F43D4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917" t="5751" r="7917" b="10495"/>
          <a:stretch>
            <a:fillRect/>
          </a:stretch>
        </p:blipFill>
        <p:spPr bwMode="auto">
          <a:xfrm>
            <a:off x="23231" y="1300985"/>
            <a:ext cx="9129716" cy="407111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Forms response chart. Question title: 10. Would talking to an AI friend help you manage emotions when no one is available?. Number of responses: 53 responses.">
            <a:extLst>
              <a:ext uri="{FF2B5EF4-FFF2-40B4-BE49-F238E27FC236}">
                <a16:creationId xmlns:a16="http://schemas.microsoft.com/office/drawing/2014/main" id="{70FC3B1A-9A94-5498-CCC1-F665C3B4FE7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916" t="7489" r="13333" b="8345"/>
          <a:stretch>
            <a:fillRect/>
          </a:stretch>
        </p:blipFill>
        <p:spPr bwMode="auto">
          <a:xfrm>
            <a:off x="9233668" y="1300985"/>
            <a:ext cx="9031101" cy="3813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637308"/>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7F3A7-DFB1-10B5-19E5-0FBB0AE40600}"/>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A025F022-17E5-8D87-12B9-9917AE4A1B09}"/>
              </a:ext>
            </a:extLst>
          </p:cNvPr>
          <p:cNvGrpSpPr/>
          <p:nvPr/>
        </p:nvGrpSpPr>
        <p:grpSpPr>
          <a:xfrm>
            <a:off x="-19050" y="-19050"/>
            <a:ext cx="18287998" cy="865389"/>
            <a:chOff x="0" y="0"/>
            <a:chExt cx="24383998" cy="1153852"/>
          </a:xfrm>
        </p:grpSpPr>
        <p:sp>
          <p:nvSpPr>
            <p:cNvPr id="11" name="Freeform 11">
              <a:extLst>
                <a:ext uri="{FF2B5EF4-FFF2-40B4-BE49-F238E27FC236}">
                  <a16:creationId xmlns:a16="http://schemas.microsoft.com/office/drawing/2014/main" id="{439CBC7F-8C29-E12B-DBF0-6F93E328B03C}"/>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a:extLst>
                <a:ext uri="{FF2B5EF4-FFF2-40B4-BE49-F238E27FC236}">
                  <a16:creationId xmlns:a16="http://schemas.microsoft.com/office/drawing/2014/main" id="{11F7F030-9BC1-1BC6-19EE-417E38E26E37}"/>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a:extLst>
              <a:ext uri="{FF2B5EF4-FFF2-40B4-BE49-F238E27FC236}">
                <a16:creationId xmlns:a16="http://schemas.microsoft.com/office/drawing/2014/main" id="{C0D8F64D-4EE8-634A-2E15-8261E378EC4A}"/>
              </a:ext>
            </a:extLst>
          </p:cNvPr>
          <p:cNvGrpSpPr/>
          <p:nvPr/>
        </p:nvGrpSpPr>
        <p:grpSpPr>
          <a:xfrm>
            <a:off x="0" y="555654"/>
            <a:ext cx="18288000" cy="745371"/>
            <a:chOff x="0" y="0"/>
            <a:chExt cx="24384000" cy="993828"/>
          </a:xfrm>
        </p:grpSpPr>
        <p:sp>
          <p:nvSpPr>
            <p:cNvPr id="15" name="Freeform 15">
              <a:extLst>
                <a:ext uri="{FF2B5EF4-FFF2-40B4-BE49-F238E27FC236}">
                  <a16:creationId xmlns:a16="http://schemas.microsoft.com/office/drawing/2014/main" id="{FFBA98FC-5E34-5AD9-292E-7ACE81F65D1F}"/>
                </a:ext>
              </a:extLst>
            </p:cNvPr>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a:extLst>
                <a:ext uri="{FF2B5EF4-FFF2-40B4-BE49-F238E27FC236}">
                  <a16:creationId xmlns:a16="http://schemas.microsoft.com/office/drawing/2014/main" id="{6A9C947A-00AA-E801-9BD2-C56FB4229A9D}"/>
                </a:ext>
              </a:extLst>
            </p:cNvPr>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   Literature Survey (in form of table)</a:t>
              </a:r>
            </a:p>
          </p:txBody>
        </p:sp>
      </p:grpSp>
      <p:graphicFrame>
        <p:nvGraphicFramePr>
          <p:cNvPr id="9" name="Table 12">
            <a:extLst>
              <a:ext uri="{FF2B5EF4-FFF2-40B4-BE49-F238E27FC236}">
                <a16:creationId xmlns:a16="http://schemas.microsoft.com/office/drawing/2014/main" id="{EAA68E2C-A7A5-C7D1-3B43-17829D0EB5E3}"/>
              </a:ext>
            </a:extLst>
          </p:cNvPr>
          <p:cNvGraphicFramePr>
            <a:graphicFrameLocks noGrp="1"/>
          </p:cNvGraphicFramePr>
          <p:nvPr>
            <p:extLst>
              <p:ext uri="{D42A27DB-BD31-4B8C-83A1-F6EECF244321}">
                <p14:modId xmlns:p14="http://schemas.microsoft.com/office/powerpoint/2010/main" val="2792833294"/>
              </p:ext>
            </p:extLst>
          </p:nvPr>
        </p:nvGraphicFramePr>
        <p:xfrm>
          <a:off x="0" y="1329560"/>
          <a:ext cx="18268949" cy="8957440"/>
        </p:xfrm>
        <a:graphic>
          <a:graphicData uri="http://schemas.openxmlformats.org/drawingml/2006/table">
            <a:tbl>
              <a:tblPr/>
              <a:tblGrid>
                <a:gridCol w="3507296">
                  <a:extLst>
                    <a:ext uri="{9D8B030D-6E8A-4147-A177-3AD203B41FA5}">
                      <a16:colId xmlns:a16="http://schemas.microsoft.com/office/drawing/2014/main" val="20000"/>
                    </a:ext>
                  </a:extLst>
                </a:gridCol>
                <a:gridCol w="3310105">
                  <a:extLst>
                    <a:ext uri="{9D8B030D-6E8A-4147-A177-3AD203B41FA5}">
                      <a16:colId xmlns:a16="http://schemas.microsoft.com/office/drawing/2014/main" val="20001"/>
                    </a:ext>
                  </a:extLst>
                </a:gridCol>
                <a:gridCol w="6454705">
                  <a:extLst>
                    <a:ext uri="{9D8B030D-6E8A-4147-A177-3AD203B41FA5}">
                      <a16:colId xmlns:a16="http://schemas.microsoft.com/office/drawing/2014/main" val="20002"/>
                    </a:ext>
                  </a:extLst>
                </a:gridCol>
                <a:gridCol w="4996843">
                  <a:extLst>
                    <a:ext uri="{9D8B030D-6E8A-4147-A177-3AD203B41FA5}">
                      <a16:colId xmlns:a16="http://schemas.microsoft.com/office/drawing/2014/main" val="1850622426"/>
                    </a:ext>
                  </a:extLst>
                </a:gridCol>
              </a:tblGrid>
              <a:tr h="1025061">
                <a:tc>
                  <a:txBody>
                    <a:bodyPr/>
                    <a:lstStyle/>
                    <a:p>
                      <a:pPr algn="ctr">
                        <a:lnSpc>
                          <a:spcPts val="949"/>
                        </a:lnSpc>
                        <a:defRPr/>
                      </a:pPr>
                      <a:r>
                        <a:rPr lang="en-US" sz="2400" u="none" strike="noStrike" dirty="0">
                          <a:solidFill>
                            <a:srgbClr val="000000"/>
                          </a:solidFill>
                          <a:latin typeface="+mn-lt"/>
                          <a:ea typeface="Canva Sans"/>
                          <a:cs typeface="Canva Sans"/>
                          <a:sym typeface="Canva Sans"/>
                        </a:rPr>
                        <a:t>Paper Name</a:t>
                      </a:r>
                      <a:endParaRPr lang="en-US" sz="24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u="none" strike="noStrike" dirty="0">
                          <a:solidFill>
                            <a:srgbClr val="000000"/>
                          </a:solidFill>
                          <a:latin typeface="+mn-lt"/>
                          <a:ea typeface="Canva Sans"/>
                          <a:cs typeface="Canva Sans"/>
                          <a:sym typeface="Canva Sans"/>
                        </a:rPr>
                        <a:t>Journal/Conference Name and</a:t>
                      </a:r>
                      <a:r>
                        <a:rPr lang="en-US" sz="2400" u="none" strike="noStrike" baseline="0" dirty="0">
                          <a:solidFill>
                            <a:srgbClr val="000000"/>
                          </a:solidFill>
                          <a:latin typeface="+mn-lt"/>
                          <a:ea typeface="Canva Sans"/>
                          <a:cs typeface="Canva Sans"/>
                          <a:sym typeface="Canva Sans"/>
                        </a:rPr>
                        <a:t> </a:t>
                      </a:r>
                      <a:r>
                        <a:rPr lang="en-US" sz="2400" u="none" strike="noStrike" dirty="0">
                          <a:solidFill>
                            <a:srgbClr val="000000"/>
                          </a:solidFill>
                          <a:latin typeface="+mn-lt"/>
                          <a:ea typeface="Canva Sans"/>
                          <a:cs typeface="Canva Sans"/>
                          <a:sym typeface="Canva Sans"/>
                        </a:rPr>
                        <a:t>Year/publishing</a:t>
                      </a:r>
                      <a:r>
                        <a:rPr lang="en-US" sz="2400" u="none" strike="noStrike" baseline="0" dirty="0">
                          <a:solidFill>
                            <a:srgbClr val="000000"/>
                          </a:solidFill>
                          <a:latin typeface="+mn-lt"/>
                          <a:ea typeface="Canva Sans"/>
                          <a:cs typeface="Canva Sans"/>
                          <a:sym typeface="Canva Sans"/>
                        </a:rPr>
                        <a:t> house </a:t>
                      </a:r>
                      <a:endParaRPr lang="en-US" sz="24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dirty="0">
                          <a:latin typeface="+mn-lt"/>
                        </a:rPr>
                        <a:t>Methodology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dirty="0">
                          <a:latin typeface="+mn-lt"/>
                        </a:rPr>
                        <a:t>GAPS</a:t>
                      </a:r>
                      <a:r>
                        <a:rPr lang="en-US" sz="2400" baseline="0" dirty="0">
                          <a:latin typeface="+mn-lt"/>
                        </a:rPr>
                        <a:t> </a:t>
                      </a:r>
                      <a:endParaRPr lang="en-US" sz="24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27026">
                <a:tc>
                  <a:txBody>
                    <a:bodyPr/>
                    <a:lstStyle/>
                    <a:p>
                      <a:pPr algn="ctr"/>
                      <a:r>
                        <a:rPr lang="en-US" sz="2400" b="0" i="0" kern="1200" dirty="0">
                          <a:solidFill>
                            <a:schemeClr val="tx1"/>
                          </a:solidFill>
                          <a:effectLst/>
                          <a:latin typeface="+mn-lt"/>
                          <a:ea typeface="+mn-ea"/>
                          <a:cs typeface="+mn-cs"/>
                        </a:rPr>
                        <a:t>Design and Implementation of an AI-Driven Mental Health Chatbot: A Generative AI Model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dirty="0">
                          <a:latin typeface="+mn-lt"/>
                        </a:rPr>
                        <a:t>IEEE</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r>
                        <a:rPr lang="en-US" sz="2400" dirty="0" err="1">
                          <a:latin typeface="+mn-lt"/>
                        </a:rPr>
                        <a:t>Preprocessing:It</a:t>
                      </a:r>
                      <a:r>
                        <a:rPr lang="en-US" sz="2400" dirty="0">
                          <a:latin typeface="+mn-lt"/>
                        </a:rPr>
                        <a:t> uses an embeddings model (all-MiniLM-L6-v2 by OpenAI)</a:t>
                      </a:r>
                    </a:p>
                    <a:p>
                      <a:r>
                        <a:rPr lang="en-US" sz="2400" dirty="0">
                          <a:latin typeface="+mn-lt"/>
                        </a:rPr>
                        <a:t>Algorithms: The system integrates a generative AI approach using the </a:t>
                      </a:r>
                      <a:r>
                        <a:rPr lang="en-US" sz="2400" dirty="0" err="1">
                          <a:latin typeface="+mn-lt"/>
                        </a:rPr>
                        <a:t>OllamaLLM</a:t>
                      </a:r>
                      <a:r>
                        <a:rPr lang="en-US" sz="2400" dirty="0">
                          <a:latin typeface="+mn-lt"/>
                        </a:rPr>
                        <a:t> model built on the </a:t>
                      </a:r>
                      <a:r>
                        <a:rPr lang="en-US" sz="2400" dirty="0" err="1">
                          <a:latin typeface="+mn-lt"/>
                        </a:rPr>
                        <a:t>LLaMA</a:t>
                      </a:r>
                      <a:r>
                        <a:rPr lang="en-US" sz="2400" dirty="0">
                          <a:latin typeface="+mn-lt"/>
                        </a:rPr>
                        <a:t> (Llama3) large language </a:t>
                      </a:r>
                      <a:r>
                        <a:rPr lang="en-US" sz="2400" dirty="0" err="1">
                          <a:latin typeface="+mn-lt"/>
                        </a:rPr>
                        <a:t>model.Vector</a:t>
                      </a:r>
                      <a:r>
                        <a:rPr lang="en-US" sz="2400" dirty="0">
                          <a:latin typeface="+mn-lt"/>
                        </a:rPr>
                        <a:t> search via FAISS library is used </a:t>
                      </a:r>
                    </a:p>
                    <a:p>
                      <a:r>
                        <a:rPr lang="en-US" sz="2400" dirty="0">
                          <a:latin typeface="+mn-lt"/>
                        </a:rPr>
                        <a:t>Validation: Performance is evaluated with quantitative metrics such as BLEU score,precision,recall,F1 </a:t>
                      </a:r>
                      <a:r>
                        <a:rPr lang="en-US" sz="2400" dirty="0" err="1">
                          <a:latin typeface="+mn-lt"/>
                        </a:rPr>
                        <a:t>score,and</a:t>
                      </a:r>
                      <a:r>
                        <a:rPr lang="en-US" sz="2400" dirty="0">
                          <a:latin typeface="+mn-lt"/>
                        </a:rPr>
                        <a:t> accuracy across multiple conversations.</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r>
                        <a:rPr lang="en-US" sz="2400" dirty="0">
                          <a:latin typeface="+mn-lt"/>
                        </a:rPr>
                        <a:t>Reinforcement learning for personalization : Adapting responses based on prior interactions to become more context-aware and individualized.</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905353">
                <a:tc>
                  <a:txBody>
                    <a:bodyPr/>
                    <a:lstStyle/>
                    <a:p>
                      <a:pPr algn="ctr">
                        <a:lnSpc>
                          <a:spcPts val="2800"/>
                        </a:lnSpc>
                        <a:defRPr/>
                      </a:pPr>
                      <a:r>
                        <a:rPr lang="en-US" sz="2400" dirty="0">
                          <a:latin typeface="+mn-lt"/>
                        </a:rPr>
                        <a:t>AI Chatbots for Mental Health: A Scoping Review of Effectiveness, Feasibility, and Applications</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u="none" strike="noStrike" dirty="0">
                          <a:solidFill>
                            <a:srgbClr val="000000"/>
                          </a:solidFill>
                          <a:latin typeface="+mn-lt"/>
                          <a:ea typeface="Canva Sans"/>
                          <a:cs typeface="Canva Sans"/>
                          <a:sym typeface="Canva Sans"/>
                        </a:rPr>
                        <a:t>Google Scholar</a:t>
                      </a:r>
                      <a:endParaRPr lang="en-US" sz="24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r>
                        <a:rPr lang="en-US" sz="2400" b="0" dirty="0">
                          <a:latin typeface="+mn-lt"/>
                        </a:rPr>
                        <a:t>Preprocessing: Searched major databases, filtered out 8,442 duplicates, and excluded non-AI/scripted chat systems</a:t>
                      </a:r>
                    </a:p>
                    <a:p>
                      <a:r>
                        <a:rPr lang="en-US" sz="2400" b="0" dirty="0">
                          <a:latin typeface="+mn-lt"/>
                        </a:rPr>
                        <a:t>Algorithm: The reviewed chatbots primarily used Natural Language Processing (NLP) and Machine Learning (ML), with  Deep Learning and Reinforcement Learning.</a:t>
                      </a:r>
                    </a:p>
                    <a:p>
                      <a:r>
                        <a:rPr lang="en-US" sz="2400" b="0" dirty="0">
                          <a:latin typeface="+mn-lt"/>
                        </a:rPr>
                        <a:t>Validation: The quality was assessed using the Cochrane </a:t>
                      </a:r>
                      <a:r>
                        <a:rPr lang="en-US" sz="2400" b="0" dirty="0" err="1">
                          <a:latin typeface="+mn-lt"/>
                        </a:rPr>
                        <a:t>RoB</a:t>
                      </a:r>
                      <a:r>
                        <a:rPr lang="en-US" sz="2400" b="0" dirty="0">
                          <a:latin typeface="+mn-lt"/>
                        </a:rPr>
                        <a:t> 2 (for RCTs) and ROBINS-E (for non-randomized studies) risk-of-bias tools</a:t>
                      </a:r>
                      <a:endParaRPr lang="en-US" sz="24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00000"/>
                        </a:lnSpc>
                        <a:defRPr/>
                      </a:pPr>
                      <a:r>
                        <a:rPr lang="en-US" sz="2400" dirty="0">
                          <a:latin typeface="+mn-lt"/>
                        </a:rPr>
                        <a:t>Need to address affective privacy (probing emotions), emotion induction (manipulation), and preventing Impostor Bias (user doubting the authenticity of the interlocutor)</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3" name="Freeform 15">
            <a:extLst>
              <a:ext uri="{FF2B5EF4-FFF2-40B4-BE49-F238E27FC236}">
                <a16:creationId xmlns:a16="http://schemas.microsoft.com/office/drawing/2014/main" id="{28459653-35CE-4EA7-CE4B-84A8323602EA}"/>
              </a:ext>
            </a:extLst>
          </p:cNvPr>
          <p:cNvSpPr/>
          <p:nvPr/>
        </p:nvSpPr>
        <p:spPr>
          <a:xfrm>
            <a:off x="0" y="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3013455320"/>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9050" y="-19050"/>
            <a:ext cx="18287998" cy="865389"/>
            <a:chOff x="0" y="0"/>
            <a:chExt cx="24383998" cy="1153852"/>
          </a:xfrm>
        </p:grpSpPr>
        <p:sp>
          <p:nvSpPr>
            <p:cNvPr id="11" name="Freeform 11"/>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p:cNvGrpSpPr/>
          <p:nvPr/>
        </p:nvGrpSpPr>
        <p:grpSpPr>
          <a:xfrm>
            <a:off x="0" y="555654"/>
            <a:ext cx="18288000" cy="745371"/>
            <a:chOff x="0" y="0"/>
            <a:chExt cx="24384000" cy="993828"/>
          </a:xfrm>
        </p:grpSpPr>
        <p:sp>
          <p:nvSpPr>
            <p:cNvPr id="15" name="Freeform 15"/>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   Literature Survey (in form of table)</a:t>
              </a:r>
            </a:p>
          </p:txBody>
        </p:sp>
      </p:grpSp>
      <p:graphicFrame>
        <p:nvGraphicFramePr>
          <p:cNvPr id="9" name="Table 12"/>
          <p:cNvGraphicFramePr>
            <a:graphicFrameLocks noGrp="1"/>
          </p:cNvGraphicFramePr>
          <p:nvPr>
            <p:extLst>
              <p:ext uri="{D42A27DB-BD31-4B8C-83A1-F6EECF244321}">
                <p14:modId xmlns:p14="http://schemas.microsoft.com/office/powerpoint/2010/main" val="1336422168"/>
              </p:ext>
            </p:extLst>
          </p:nvPr>
        </p:nvGraphicFramePr>
        <p:xfrm>
          <a:off x="-19050" y="1329560"/>
          <a:ext cx="18307049" cy="8957440"/>
        </p:xfrm>
        <a:graphic>
          <a:graphicData uri="http://schemas.openxmlformats.org/drawingml/2006/table">
            <a:tbl>
              <a:tblPr/>
              <a:tblGrid>
                <a:gridCol w="3514611">
                  <a:extLst>
                    <a:ext uri="{9D8B030D-6E8A-4147-A177-3AD203B41FA5}">
                      <a16:colId xmlns:a16="http://schemas.microsoft.com/office/drawing/2014/main" val="20000"/>
                    </a:ext>
                  </a:extLst>
                </a:gridCol>
                <a:gridCol w="3317008">
                  <a:extLst>
                    <a:ext uri="{9D8B030D-6E8A-4147-A177-3AD203B41FA5}">
                      <a16:colId xmlns:a16="http://schemas.microsoft.com/office/drawing/2014/main" val="20001"/>
                    </a:ext>
                  </a:extLst>
                </a:gridCol>
                <a:gridCol w="6468166">
                  <a:extLst>
                    <a:ext uri="{9D8B030D-6E8A-4147-A177-3AD203B41FA5}">
                      <a16:colId xmlns:a16="http://schemas.microsoft.com/office/drawing/2014/main" val="20002"/>
                    </a:ext>
                  </a:extLst>
                </a:gridCol>
                <a:gridCol w="5007264">
                  <a:extLst>
                    <a:ext uri="{9D8B030D-6E8A-4147-A177-3AD203B41FA5}">
                      <a16:colId xmlns:a16="http://schemas.microsoft.com/office/drawing/2014/main" val="1850622426"/>
                    </a:ext>
                  </a:extLst>
                </a:gridCol>
              </a:tblGrid>
              <a:tr h="1205810">
                <a:tc>
                  <a:txBody>
                    <a:bodyPr/>
                    <a:lstStyle/>
                    <a:p>
                      <a:pPr algn="ctr">
                        <a:lnSpc>
                          <a:spcPts val="949"/>
                        </a:lnSpc>
                        <a:defRPr/>
                      </a:pPr>
                      <a:r>
                        <a:rPr lang="en-US" sz="2500" u="none" strike="noStrike" dirty="0">
                          <a:solidFill>
                            <a:srgbClr val="000000"/>
                          </a:solidFill>
                          <a:latin typeface="+mn-lt"/>
                          <a:ea typeface="Canva Sans"/>
                          <a:cs typeface="Canva Sans"/>
                          <a:sym typeface="Canva Sans"/>
                        </a:rPr>
                        <a:t>Paper Name</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Journal/Conference Name and</a:t>
                      </a:r>
                      <a:r>
                        <a:rPr lang="en-US" sz="2500" u="none" strike="noStrike" baseline="0" dirty="0">
                          <a:solidFill>
                            <a:srgbClr val="000000"/>
                          </a:solidFill>
                          <a:latin typeface="+mn-lt"/>
                          <a:ea typeface="Canva Sans"/>
                          <a:cs typeface="Canva Sans"/>
                          <a:sym typeface="Canva Sans"/>
                        </a:rPr>
                        <a:t> </a:t>
                      </a:r>
                      <a:r>
                        <a:rPr lang="en-US" sz="2500" u="none" strike="noStrike" dirty="0">
                          <a:solidFill>
                            <a:srgbClr val="000000"/>
                          </a:solidFill>
                          <a:latin typeface="+mn-lt"/>
                          <a:ea typeface="Canva Sans"/>
                          <a:cs typeface="Canva Sans"/>
                          <a:sym typeface="Canva Sans"/>
                        </a:rPr>
                        <a:t>Year/publishing</a:t>
                      </a:r>
                      <a:r>
                        <a:rPr lang="en-US" sz="2500" u="none" strike="noStrike" baseline="0" dirty="0">
                          <a:solidFill>
                            <a:srgbClr val="000000"/>
                          </a:solidFill>
                          <a:latin typeface="+mn-lt"/>
                          <a:ea typeface="Canva Sans"/>
                          <a:cs typeface="Canva Sans"/>
                          <a:sym typeface="Canva Sans"/>
                        </a:rPr>
                        <a:t> house </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latin typeface="+mn-lt"/>
                        </a:rPr>
                        <a:t>Methodology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latin typeface="+mn-lt"/>
                        </a:rPr>
                        <a:t>GAPS</a:t>
                      </a:r>
                      <a:r>
                        <a:rPr lang="en-US" sz="2500" baseline="0" dirty="0">
                          <a:latin typeface="+mn-lt"/>
                        </a:rPr>
                        <a:t> </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75815">
                <a:tc>
                  <a:txBody>
                    <a:bodyPr/>
                    <a:lstStyle/>
                    <a:p>
                      <a:pPr algn="ctr"/>
                      <a:r>
                        <a:rPr lang="en-US" sz="2500" b="0" i="0" kern="1200" dirty="0">
                          <a:solidFill>
                            <a:schemeClr val="tx1"/>
                          </a:solidFill>
                          <a:effectLst/>
                          <a:latin typeface="+mn-lt"/>
                          <a:ea typeface="+mn-ea"/>
                          <a:cs typeface="+mn-cs"/>
                        </a:rPr>
                        <a:t>Habit Tracker and Advisor using Mobile Application for Health Monitoring</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latin typeface="+mn-lt"/>
                        </a:rPr>
                        <a:t>IEEE</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r>
                        <a:rPr lang="en-US" sz="2500" dirty="0">
                          <a:latin typeface="+mn-lt"/>
                        </a:rPr>
                        <a:t>Preprocessing: Validate user credentials. Check habit input type &amp; scoring </a:t>
                      </a:r>
                      <a:r>
                        <a:rPr lang="en-US" sz="2500" dirty="0" err="1">
                          <a:latin typeface="+mn-lt"/>
                        </a:rPr>
                        <a:t>thresholds.Prevent</a:t>
                      </a:r>
                      <a:r>
                        <a:rPr lang="en-US" sz="2500" dirty="0">
                          <a:latin typeface="+mn-lt"/>
                        </a:rPr>
                        <a:t> duplicate entries</a:t>
                      </a:r>
                    </a:p>
                    <a:p>
                      <a:r>
                        <a:rPr lang="en-US" sz="2500" dirty="0" err="1">
                          <a:latin typeface="+mn-lt"/>
                        </a:rPr>
                        <a:t>Algorithm:Detect</a:t>
                      </a:r>
                      <a:r>
                        <a:rPr lang="en-US" sz="2500" dirty="0">
                          <a:latin typeface="+mn-lt"/>
                        </a:rPr>
                        <a:t> input type (Yes/No/Partial, Time, Number).Apply matching scoring rules. Update averages.</a:t>
                      </a:r>
                    </a:p>
                    <a:p>
                      <a:r>
                        <a:rPr lang="en-US" sz="2500" dirty="0" err="1">
                          <a:latin typeface="+mn-lt"/>
                        </a:rPr>
                        <a:t>Validation:Check</a:t>
                      </a:r>
                      <a:r>
                        <a:rPr lang="en-US" sz="2500" dirty="0">
                          <a:latin typeface="+mn-lt"/>
                        </a:rPr>
                        <a:t> score </a:t>
                      </a:r>
                      <a:r>
                        <a:rPr lang="en-US" sz="2500" dirty="0" err="1">
                          <a:latin typeface="+mn-lt"/>
                        </a:rPr>
                        <a:t>accuracy.Test</a:t>
                      </a:r>
                      <a:r>
                        <a:rPr lang="en-US" sz="2500" dirty="0">
                          <a:latin typeface="+mn-lt"/>
                        </a:rPr>
                        <a:t> usability with pilot </a:t>
                      </a:r>
                      <a:r>
                        <a:rPr lang="en-US" sz="2500" dirty="0" err="1">
                          <a:latin typeface="+mn-lt"/>
                        </a:rPr>
                        <a:t>users.Verify</a:t>
                      </a:r>
                      <a:r>
                        <a:rPr lang="en-US" sz="2500" dirty="0">
                          <a:latin typeface="+mn-lt"/>
                        </a:rPr>
                        <a:t> </a:t>
                      </a:r>
                      <a:r>
                        <a:rPr lang="en-US" sz="2500" dirty="0" err="1">
                          <a:latin typeface="+mn-lt"/>
                        </a:rPr>
                        <a:t>Firestore</a:t>
                      </a:r>
                      <a:r>
                        <a:rPr lang="en-US" sz="2500" dirty="0">
                          <a:latin typeface="+mn-lt"/>
                        </a:rPr>
                        <a:t> data consistency. Match graphs with raw data.</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r>
                        <a:rPr lang="en-US" sz="2500" dirty="0">
                          <a:latin typeface="+mn-lt"/>
                        </a:rPr>
                        <a:t>No reminders yet.</a:t>
                      </a:r>
                    </a:p>
                    <a:p>
                      <a:pPr algn="ctr"/>
                      <a:r>
                        <a:rPr lang="en-US" sz="2500" dirty="0">
                          <a:latin typeface="+mn-lt"/>
                        </a:rPr>
                        <a:t>No gamification.</a:t>
                      </a:r>
                    </a:p>
                    <a:p>
                      <a:pPr algn="ctr"/>
                      <a:r>
                        <a:rPr lang="en-US" sz="2500" dirty="0">
                          <a:latin typeface="+mn-lt"/>
                        </a:rPr>
                        <a:t>No reward system for motivation.</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75815">
                <a:tc>
                  <a:txBody>
                    <a:bodyPr/>
                    <a:lstStyle/>
                    <a:p>
                      <a:pPr algn="ctr">
                        <a:lnSpc>
                          <a:spcPts val="2800"/>
                        </a:lnSpc>
                        <a:defRPr/>
                      </a:pPr>
                      <a:r>
                        <a:rPr lang="en-US" sz="2500" dirty="0">
                          <a:latin typeface="+mn-lt"/>
                        </a:rPr>
                        <a:t>Sentiment </a:t>
                      </a:r>
                      <a:r>
                        <a:rPr lang="en-US" sz="2500" baseline="0" dirty="0">
                          <a:latin typeface="+mn-lt"/>
                        </a:rPr>
                        <a:t>- guided Common sense – aware Response Generation for Mental Health Counseling </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Google Scholar</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r>
                        <a:rPr lang="en-US" sz="2500" b="0" dirty="0">
                          <a:latin typeface="+mn-lt"/>
                        </a:rPr>
                        <a:t>Preprocessing: </a:t>
                      </a:r>
                      <a:r>
                        <a:rPr lang="en-US" sz="2500" dirty="0">
                          <a:latin typeface="+mn-lt"/>
                        </a:rPr>
                        <a:t>Cleaned HOPE data and used BERT+COMET for sentiment labeling.</a:t>
                      </a:r>
                    </a:p>
                    <a:p>
                      <a:r>
                        <a:rPr lang="en-US" sz="2500" b="0" dirty="0">
                          <a:latin typeface="+mn-lt"/>
                        </a:rPr>
                        <a:t>Algorithm: </a:t>
                      </a:r>
                      <a:r>
                        <a:rPr lang="en-US" sz="2500" dirty="0">
                          <a:latin typeface="+mn-lt"/>
                        </a:rPr>
                        <a:t>Built </a:t>
                      </a:r>
                      <a:r>
                        <a:rPr lang="en-US" sz="2500" dirty="0" err="1">
                          <a:latin typeface="+mn-lt"/>
                        </a:rPr>
                        <a:t>EmpRes</a:t>
                      </a:r>
                      <a:r>
                        <a:rPr lang="en-US" sz="2500" dirty="0">
                          <a:latin typeface="+mn-lt"/>
                        </a:rPr>
                        <a:t> (GPT-2 + SC/SGCR Graphs) with attention for sentiment-aware replies.</a:t>
                      </a:r>
                    </a:p>
                    <a:p>
                      <a:r>
                        <a:rPr lang="en-US" sz="2500" b="0" dirty="0">
                          <a:latin typeface="+mn-lt"/>
                        </a:rPr>
                        <a:t>Validation: </a:t>
                      </a:r>
                      <a:r>
                        <a:rPr lang="en-US" sz="2500" dirty="0">
                          <a:latin typeface="+mn-lt"/>
                        </a:rPr>
                        <a:t>Evaluated on HOPE with baselines using ROUGE, METEOR, </a:t>
                      </a:r>
                      <a:r>
                        <a:rPr lang="en-US" sz="2500" dirty="0" err="1">
                          <a:latin typeface="+mn-lt"/>
                        </a:rPr>
                        <a:t>BERTScore</a:t>
                      </a:r>
                      <a:r>
                        <a:rPr lang="en-US" sz="2500" dirty="0">
                          <a:latin typeface="+mn-lt"/>
                        </a:rPr>
                        <a:t>, and user studies.</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ct val="100000"/>
                        </a:lnSpc>
                        <a:defRPr/>
                      </a:pPr>
                      <a:r>
                        <a:rPr lang="en-US" sz="2500" dirty="0">
                          <a:latin typeface="+mn-lt"/>
                        </a:rPr>
                        <a:t>Narrow Emotional Range</a:t>
                      </a:r>
                      <a:r>
                        <a:rPr lang="en-US" sz="2500" baseline="0" dirty="0">
                          <a:latin typeface="+mn-lt"/>
                        </a:rPr>
                        <a:t> - </a:t>
                      </a:r>
                      <a:r>
                        <a:rPr lang="en-US" sz="2500" dirty="0">
                          <a:latin typeface="+mn-lt"/>
                        </a:rPr>
                        <a:t>The model mainly focuses on binary sentiment (positive/negative), ignoring complex emotions like fear, guilt, or anger.</a:t>
                      </a:r>
                    </a:p>
                    <a:p>
                      <a:pPr algn="l">
                        <a:lnSpc>
                          <a:spcPct val="100000"/>
                        </a:lnSpc>
                        <a:defRPr/>
                      </a:pPr>
                      <a:r>
                        <a:rPr lang="en-US" sz="2500" dirty="0">
                          <a:latin typeface="+mn-lt"/>
                        </a:rPr>
                        <a:t>Minor Hallucinations Around 20% of users reported occasional hallucinations (irrelevant or fabricated responses).</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3" name="Freeform 15"/>
          <p:cNvSpPr/>
          <p:nvPr/>
        </p:nvSpPr>
        <p:spPr>
          <a:xfrm>
            <a:off x="0" y="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1666822627"/>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9050" y="-19050"/>
            <a:ext cx="18287998" cy="865389"/>
            <a:chOff x="0" y="0"/>
            <a:chExt cx="24383998" cy="1153852"/>
          </a:xfrm>
        </p:grpSpPr>
        <p:sp>
          <p:nvSpPr>
            <p:cNvPr id="11" name="Freeform 11"/>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p:cNvGrpSpPr/>
          <p:nvPr/>
        </p:nvGrpSpPr>
        <p:grpSpPr>
          <a:xfrm>
            <a:off x="0" y="555654"/>
            <a:ext cx="18288000" cy="745371"/>
            <a:chOff x="0" y="0"/>
            <a:chExt cx="24384000" cy="993828"/>
          </a:xfrm>
        </p:grpSpPr>
        <p:sp>
          <p:nvSpPr>
            <p:cNvPr id="15" name="Freeform 15"/>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   Literature Survey (in form of table)</a:t>
              </a:r>
            </a:p>
          </p:txBody>
        </p:sp>
      </p:grpSp>
      <p:graphicFrame>
        <p:nvGraphicFramePr>
          <p:cNvPr id="9" name="Table 12"/>
          <p:cNvGraphicFramePr>
            <a:graphicFrameLocks noGrp="1"/>
          </p:cNvGraphicFramePr>
          <p:nvPr>
            <p:extLst>
              <p:ext uri="{D42A27DB-BD31-4B8C-83A1-F6EECF244321}">
                <p14:modId xmlns:p14="http://schemas.microsoft.com/office/powerpoint/2010/main" val="2713802356"/>
              </p:ext>
            </p:extLst>
          </p:nvPr>
        </p:nvGraphicFramePr>
        <p:xfrm>
          <a:off x="1" y="1329560"/>
          <a:ext cx="18287999" cy="8957441"/>
        </p:xfrm>
        <a:graphic>
          <a:graphicData uri="http://schemas.openxmlformats.org/drawingml/2006/table">
            <a:tbl>
              <a:tblPr/>
              <a:tblGrid>
                <a:gridCol w="3510953">
                  <a:extLst>
                    <a:ext uri="{9D8B030D-6E8A-4147-A177-3AD203B41FA5}">
                      <a16:colId xmlns:a16="http://schemas.microsoft.com/office/drawing/2014/main" val="20000"/>
                    </a:ext>
                  </a:extLst>
                </a:gridCol>
                <a:gridCol w="3313557">
                  <a:extLst>
                    <a:ext uri="{9D8B030D-6E8A-4147-A177-3AD203B41FA5}">
                      <a16:colId xmlns:a16="http://schemas.microsoft.com/office/drawing/2014/main" val="20001"/>
                    </a:ext>
                  </a:extLst>
                </a:gridCol>
                <a:gridCol w="6378597">
                  <a:extLst>
                    <a:ext uri="{9D8B030D-6E8A-4147-A177-3AD203B41FA5}">
                      <a16:colId xmlns:a16="http://schemas.microsoft.com/office/drawing/2014/main" val="20002"/>
                    </a:ext>
                  </a:extLst>
                </a:gridCol>
                <a:gridCol w="5084892">
                  <a:extLst>
                    <a:ext uri="{9D8B030D-6E8A-4147-A177-3AD203B41FA5}">
                      <a16:colId xmlns:a16="http://schemas.microsoft.com/office/drawing/2014/main" val="1850622426"/>
                    </a:ext>
                  </a:extLst>
                </a:gridCol>
              </a:tblGrid>
              <a:tr h="1150497">
                <a:tc>
                  <a:txBody>
                    <a:bodyPr/>
                    <a:lstStyle/>
                    <a:p>
                      <a:pPr algn="ctr">
                        <a:lnSpc>
                          <a:spcPts val="949"/>
                        </a:lnSpc>
                        <a:defRPr/>
                      </a:pPr>
                      <a:r>
                        <a:rPr lang="en-US" sz="2500" u="none" strike="noStrike" dirty="0">
                          <a:solidFill>
                            <a:srgbClr val="000000"/>
                          </a:solidFill>
                          <a:latin typeface="+mn-lt"/>
                          <a:ea typeface="Canva Sans"/>
                          <a:cs typeface="Canva Sans"/>
                          <a:sym typeface="Canva Sans"/>
                        </a:rPr>
                        <a:t>Paper Name</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Journal/Conference Name and</a:t>
                      </a:r>
                      <a:r>
                        <a:rPr lang="en-US" sz="2500" u="none" strike="noStrike" baseline="0" dirty="0">
                          <a:solidFill>
                            <a:srgbClr val="000000"/>
                          </a:solidFill>
                          <a:latin typeface="+mn-lt"/>
                          <a:ea typeface="Canva Sans"/>
                          <a:cs typeface="Canva Sans"/>
                          <a:sym typeface="Canva Sans"/>
                        </a:rPr>
                        <a:t> </a:t>
                      </a:r>
                      <a:r>
                        <a:rPr lang="en-US" sz="2500" u="none" strike="noStrike" dirty="0">
                          <a:solidFill>
                            <a:srgbClr val="000000"/>
                          </a:solidFill>
                          <a:latin typeface="+mn-lt"/>
                          <a:ea typeface="Canva Sans"/>
                          <a:cs typeface="Canva Sans"/>
                          <a:sym typeface="Canva Sans"/>
                        </a:rPr>
                        <a:t>Year/publishing</a:t>
                      </a:r>
                      <a:r>
                        <a:rPr lang="en-US" sz="2500" u="none" strike="noStrike" baseline="0" dirty="0">
                          <a:solidFill>
                            <a:srgbClr val="000000"/>
                          </a:solidFill>
                          <a:latin typeface="+mn-lt"/>
                          <a:ea typeface="Canva Sans"/>
                          <a:cs typeface="Canva Sans"/>
                          <a:sym typeface="Canva Sans"/>
                        </a:rPr>
                        <a:t> house </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latin typeface="+mn-lt"/>
                        </a:rPr>
                        <a:t>Methodology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latin typeface="+mn-lt"/>
                        </a:rPr>
                        <a:t>GAPS</a:t>
                      </a:r>
                      <a:r>
                        <a:rPr lang="en-US" sz="2500" baseline="0" dirty="0">
                          <a:latin typeface="+mn-lt"/>
                        </a:rPr>
                        <a:t> </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98026">
                <a:tc>
                  <a:txBody>
                    <a:bodyPr/>
                    <a:lstStyle/>
                    <a:p>
                      <a:pPr algn="ctr"/>
                      <a:r>
                        <a:rPr lang="en-US" sz="2500" b="0" i="0" kern="1200" dirty="0">
                          <a:solidFill>
                            <a:schemeClr val="tx1"/>
                          </a:solidFill>
                          <a:effectLst/>
                          <a:latin typeface="+mn-lt"/>
                          <a:ea typeface="+mn-ea"/>
                          <a:cs typeface="+mn-cs"/>
                        </a:rPr>
                        <a:t>Mental Health Prediction Using Ensemble Learning Approaches with Rebalancing Technique</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sym typeface="Canva Sans"/>
                        </a:rPr>
                        <a:t>IEEE</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r>
                        <a:rPr lang="en-US" sz="2500" dirty="0">
                          <a:latin typeface="+mn-lt"/>
                        </a:rPr>
                        <a:t> Preprocessing: Data cleaning, SMOTE (Synthetic Minority Oversampling Technique) for rebalancing, and RFE (Recursive Feature Elimination) for feature selection.</a:t>
                      </a:r>
                    </a:p>
                    <a:p>
                      <a:r>
                        <a:rPr lang="en-US" sz="2500" dirty="0">
                          <a:latin typeface="+mn-lt"/>
                        </a:rPr>
                        <a:t>Algorithms: Gradient Boosting (GB), Random Forest (RF), and K-Nearest Neighbor (KNN) ensemble classifiers.</a:t>
                      </a:r>
                    </a:p>
                    <a:p>
                      <a:r>
                        <a:rPr lang="en-US" sz="2500" dirty="0">
                          <a:latin typeface="+mn-lt"/>
                        </a:rPr>
                        <a:t>Validation: 80:20 train-test split with 5-fold cross-validation.</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800"/>
                        </a:lnSpc>
                        <a:defRPr/>
                      </a:pPr>
                      <a:r>
                        <a:rPr lang="en-US" sz="2500" dirty="0">
                          <a:latin typeface="+mn-lt"/>
                        </a:rPr>
                        <a:t>Small sample size limits generalizability and increases the risk of overfitting.</a:t>
                      </a:r>
                    </a:p>
                    <a:p>
                      <a:pPr algn="l">
                        <a:lnSpc>
                          <a:spcPts val="2800"/>
                        </a:lnSpc>
                        <a:defRPr/>
                      </a:pPr>
                      <a:r>
                        <a:rPr lang="en-US" sz="2500" dirty="0">
                          <a:latin typeface="+mn-lt"/>
                        </a:rPr>
                        <a:t>Key demographic factors were not examined, limiting insights.</a:t>
                      </a:r>
                    </a:p>
                    <a:p>
                      <a:pPr algn="l">
                        <a:lnSpc>
                          <a:spcPts val="2800"/>
                        </a:lnSpc>
                        <a:defRPr/>
                      </a:pPr>
                      <a:r>
                        <a:rPr lang="en-US" sz="2500" dirty="0">
                          <a:latin typeface="+mn-lt"/>
                        </a:rPr>
                        <a:t>KNN classifier underperformed due to high dimensionality/residual class imbalance.</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108918">
                <a:tc>
                  <a:txBody>
                    <a:bodyPr/>
                    <a:lstStyle/>
                    <a:p>
                      <a:pPr algn="ctr">
                        <a:lnSpc>
                          <a:spcPts val="2800"/>
                        </a:lnSpc>
                        <a:defRPr/>
                      </a:pPr>
                      <a:r>
                        <a:rPr lang="en-US" sz="2500" dirty="0">
                          <a:latin typeface="+mn-lt"/>
                        </a:rPr>
                        <a:t>Predicting the Utilization of Mental Health Treatment with Various Machine Learning Algorithms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Google Scholar</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r>
                        <a:rPr lang="en-US" sz="2500" b="0" u="none" dirty="0">
                          <a:latin typeface="+mn-lt"/>
                        </a:rPr>
                        <a:t>Data cleaning and feature extraction from survey datasets.</a:t>
                      </a:r>
                    </a:p>
                    <a:p>
                      <a:r>
                        <a:rPr lang="en-US" sz="2500" b="0" u="none" dirty="0">
                          <a:latin typeface="+mn-lt"/>
                        </a:rPr>
                        <a:t>Dimensionality reduction with Principal Component Analysis (PCA).</a:t>
                      </a:r>
                    </a:p>
                    <a:p>
                      <a:r>
                        <a:rPr lang="en-US" sz="2500" b="0" u="none" dirty="0">
                          <a:latin typeface="+mn-lt"/>
                        </a:rPr>
                        <a:t>Algorithms:</a:t>
                      </a:r>
                    </a:p>
                    <a:p>
                      <a:r>
                        <a:rPr lang="en-US" sz="2500" b="0" u="none" dirty="0">
                          <a:latin typeface="+mn-lt"/>
                        </a:rPr>
                        <a:t>Support Vector Machines (SVM), Naive Bayes, K-Nearest Neighbors, Decision Trees, Random Forest, Gradient Boosting Machines, Binary Logistic Regression, Deep feedforward neural networks</a:t>
                      </a:r>
                      <a:endParaRPr lang="en-US" sz="2500" u="none"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ct val="100000"/>
                        </a:lnSpc>
                        <a:defRPr/>
                      </a:pPr>
                      <a:r>
                        <a:rPr lang="en-US" sz="2500" dirty="0">
                          <a:latin typeface="+mn-lt"/>
                        </a:rPr>
                        <a:t>Older, self-reported datasets; limited to technology workspace.</a:t>
                      </a:r>
                    </a:p>
                    <a:p>
                      <a:pPr algn="l">
                        <a:lnSpc>
                          <a:spcPct val="100000"/>
                        </a:lnSpc>
                        <a:defRPr/>
                      </a:pPr>
                      <a:r>
                        <a:rPr lang="en-US" sz="2500" dirty="0">
                          <a:latin typeface="+mn-lt"/>
                        </a:rPr>
                        <a:t>Possible biases due to self-reporting.</a:t>
                      </a:r>
                    </a:p>
                    <a:p>
                      <a:pPr algn="l">
                        <a:lnSpc>
                          <a:spcPct val="100000"/>
                        </a:lnSpc>
                        <a:defRPr/>
                      </a:pPr>
                      <a:r>
                        <a:rPr lang="en-US" sz="2500" dirty="0">
                          <a:latin typeface="+mn-lt"/>
                        </a:rPr>
                        <a:t>Narrow selection of features.</a:t>
                      </a:r>
                    </a:p>
                    <a:p>
                      <a:pPr algn="l">
                        <a:lnSpc>
                          <a:spcPct val="100000"/>
                        </a:lnSpc>
                        <a:defRPr/>
                      </a:pPr>
                      <a:r>
                        <a:rPr lang="en-US" sz="2500" dirty="0">
                          <a:latin typeface="+mn-lt"/>
                        </a:rPr>
                        <a:t>Results not generalizable to all populations or industries.</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3" name="Freeform 15"/>
          <p:cNvSpPr/>
          <p:nvPr/>
        </p:nvSpPr>
        <p:spPr>
          <a:xfrm>
            <a:off x="0" y="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926922791"/>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5A013-0E27-B6D7-51F7-1618F9A1A22B}"/>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544EF630-0BC2-B522-0594-934351570C5B}"/>
              </a:ext>
            </a:extLst>
          </p:cNvPr>
          <p:cNvGrpSpPr/>
          <p:nvPr/>
        </p:nvGrpSpPr>
        <p:grpSpPr>
          <a:xfrm>
            <a:off x="-19050" y="-19050"/>
            <a:ext cx="18287998" cy="865389"/>
            <a:chOff x="0" y="0"/>
            <a:chExt cx="24383998" cy="1153852"/>
          </a:xfrm>
        </p:grpSpPr>
        <p:sp>
          <p:nvSpPr>
            <p:cNvPr id="11" name="Freeform 11">
              <a:extLst>
                <a:ext uri="{FF2B5EF4-FFF2-40B4-BE49-F238E27FC236}">
                  <a16:creationId xmlns:a16="http://schemas.microsoft.com/office/drawing/2014/main" id="{3570ABEA-A96E-6849-FFA1-B250065D01AC}"/>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a:extLst>
                <a:ext uri="{FF2B5EF4-FFF2-40B4-BE49-F238E27FC236}">
                  <a16:creationId xmlns:a16="http://schemas.microsoft.com/office/drawing/2014/main" id="{AECF91A8-7616-40F7-45FE-8FDE87E424E6}"/>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a:extLst>
              <a:ext uri="{FF2B5EF4-FFF2-40B4-BE49-F238E27FC236}">
                <a16:creationId xmlns:a16="http://schemas.microsoft.com/office/drawing/2014/main" id="{F080CB8C-57DE-2A04-DA97-6B4F4FF723AC}"/>
              </a:ext>
            </a:extLst>
          </p:cNvPr>
          <p:cNvGrpSpPr/>
          <p:nvPr/>
        </p:nvGrpSpPr>
        <p:grpSpPr>
          <a:xfrm>
            <a:off x="0" y="555654"/>
            <a:ext cx="18288000" cy="745371"/>
            <a:chOff x="0" y="0"/>
            <a:chExt cx="24384000" cy="993828"/>
          </a:xfrm>
        </p:grpSpPr>
        <p:sp>
          <p:nvSpPr>
            <p:cNvPr id="15" name="Freeform 15">
              <a:extLst>
                <a:ext uri="{FF2B5EF4-FFF2-40B4-BE49-F238E27FC236}">
                  <a16:creationId xmlns:a16="http://schemas.microsoft.com/office/drawing/2014/main" id="{2295CC13-FABB-FFE0-67F1-B0288A486E4D}"/>
                </a:ext>
              </a:extLst>
            </p:cNvPr>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a:extLst>
                <a:ext uri="{FF2B5EF4-FFF2-40B4-BE49-F238E27FC236}">
                  <a16:creationId xmlns:a16="http://schemas.microsoft.com/office/drawing/2014/main" id="{217C508E-5DAF-3E63-5F7A-783998BF2F5C}"/>
                </a:ext>
              </a:extLst>
            </p:cNvPr>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   Literature Survey (in form of table)</a:t>
              </a:r>
            </a:p>
          </p:txBody>
        </p:sp>
      </p:grpSp>
      <p:graphicFrame>
        <p:nvGraphicFramePr>
          <p:cNvPr id="9" name="Table 12">
            <a:extLst>
              <a:ext uri="{FF2B5EF4-FFF2-40B4-BE49-F238E27FC236}">
                <a16:creationId xmlns:a16="http://schemas.microsoft.com/office/drawing/2014/main" id="{FC4EBAF1-AB35-7A97-7153-5257EDFA86E4}"/>
              </a:ext>
            </a:extLst>
          </p:cNvPr>
          <p:cNvGraphicFramePr>
            <a:graphicFrameLocks noGrp="1"/>
          </p:cNvGraphicFramePr>
          <p:nvPr>
            <p:extLst>
              <p:ext uri="{D42A27DB-BD31-4B8C-83A1-F6EECF244321}">
                <p14:modId xmlns:p14="http://schemas.microsoft.com/office/powerpoint/2010/main" val="3968062004"/>
              </p:ext>
            </p:extLst>
          </p:nvPr>
        </p:nvGraphicFramePr>
        <p:xfrm>
          <a:off x="0" y="1329560"/>
          <a:ext cx="18287999" cy="5421609"/>
        </p:xfrm>
        <a:graphic>
          <a:graphicData uri="http://schemas.openxmlformats.org/drawingml/2006/table">
            <a:tbl>
              <a:tblPr/>
              <a:tblGrid>
                <a:gridCol w="3510953">
                  <a:extLst>
                    <a:ext uri="{9D8B030D-6E8A-4147-A177-3AD203B41FA5}">
                      <a16:colId xmlns:a16="http://schemas.microsoft.com/office/drawing/2014/main" val="20000"/>
                    </a:ext>
                  </a:extLst>
                </a:gridCol>
                <a:gridCol w="3313556">
                  <a:extLst>
                    <a:ext uri="{9D8B030D-6E8A-4147-A177-3AD203B41FA5}">
                      <a16:colId xmlns:a16="http://schemas.microsoft.com/office/drawing/2014/main" val="20001"/>
                    </a:ext>
                  </a:extLst>
                </a:gridCol>
                <a:gridCol w="6461436">
                  <a:extLst>
                    <a:ext uri="{9D8B030D-6E8A-4147-A177-3AD203B41FA5}">
                      <a16:colId xmlns:a16="http://schemas.microsoft.com/office/drawing/2014/main" val="20002"/>
                    </a:ext>
                  </a:extLst>
                </a:gridCol>
                <a:gridCol w="5002054">
                  <a:extLst>
                    <a:ext uri="{9D8B030D-6E8A-4147-A177-3AD203B41FA5}">
                      <a16:colId xmlns:a16="http://schemas.microsoft.com/office/drawing/2014/main" val="1850622426"/>
                    </a:ext>
                  </a:extLst>
                </a:gridCol>
              </a:tblGrid>
              <a:tr h="1100037">
                <a:tc>
                  <a:txBody>
                    <a:bodyPr/>
                    <a:lstStyle/>
                    <a:p>
                      <a:pPr algn="ctr">
                        <a:lnSpc>
                          <a:spcPts val="949"/>
                        </a:lnSpc>
                        <a:defRPr/>
                      </a:pPr>
                      <a:r>
                        <a:rPr lang="en-US" sz="2500" u="none" strike="noStrike" dirty="0">
                          <a:solidFill>
                            <a:srgbClr val="000000"/>
                          </a:solidFill>
                          <a:latin typeface="+mn-lt"/>
                          <a:ea typeface="Canva Sans"/>
                          <a:cs typeface="Canva Sans"/>
                          <a:sym typeface="Canva Sans"/>
                        </a:rPr>
                        <a:t>Paper Name</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Journal/Conference Name and</a:t>
                      </a:r>
                      <a:r>
                        <a:rPr lang="en-US" sz="2500" u="none" strike="noStrike" baseline="0" dirty="0">
                          <a:solidFill>
                            <a:srgbClr val="000000"/>
                          </a:solidFill>
                          <a:latin typeface="+mn-lt"/>
                          <a:ea typeface="Canva Sans"/>
                          <a:cs typeface="Canva Sans"/>
                          <a:sym typeface="Canva Sans"/>
                        </a:rPr>
                        <a:t> </a:t>
                      </a:r>
                      <a:r>
                        <a:rPr lang="en-US" sz="2500" u="none" strike="noStrike" dirty="0">
                          <a:solidFill>
                            <a:srgbClr val="000000"/>
                          </a:solidFill>
                          <a:latin typeface="+mn-lt"/>
                          <a:ea typeface="Canva Sans"/>
                          <a:cs typeface="Canva Sans"/>
                          <a:sym typeface="Canva Sans"/>
                        </a:rPr>
                        <a:t>Year/publishing</a:t>
                      </a:r>
                      <a:r>
                        <a:rPr lang="en-US" sz="2500" u="none" strike="noStrike" baseline="0" dirty="0">
                          <a:solidFill>
                            <a:srgbClr val="000000"/>
                          </a:solidFill>
                          <a:latin typeface="+mn-lt"/>
                          <a:ea typeface="Canva Sans"/>
                          <a:cs typeface="Canva Sans"/>
                          <a:sym typeface="Canva Sans"/>
                        </a:rPr>
                        <a:t> house </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latin typeface="+mn-lt"/>
                        </a:rPr>
                        <a:t>Methodology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latin typeface="+mn-lt"/>
                        </a:rPr>
                        <a:t>GAPS</a:t>
                      </a:r>
                      <a:r>
                        <a:rPr lang="en-US" sz="2500" baseline="0" dirty="0">
                          <a:latin typeface="+mn-lt"/>
                        </a:rPr>
                        <a:t> </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21572">
                <a:tc>
                  <a:txBody>
                    <a:bodyPr/>
                    <a:lstStyle/>
                    <a:p>
                      <a:pPr algn="ctr"/>
                      <a:r>
                        <a:rPr lang="en-US" sz="2500" b="0" i="0" kern="1200" dirty="0">
                          <a:solidFill>
                            <a:schemeClr val="tx1"/>
                          </a:solidFill>
                          <a:effectLst/>
                          <a:latin typeface="+mn-lt"/>
                          <a:ea typeface="+mn-ea"/>
                          <a:cs typeface="+mn-cs"/>
                        </a:rPr>
                        <a:t>Use of generative AI in psychiatry and mental health care: a systematic review</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sym typeface="Canva Sans"/>
                        </a:rPr>
                        <a:t>Google</a:t>
                      </a:r>
                      <a:r>
                        <a:rPr lang="en-US" sz="2500" u="none" strike="noStrike" baseline="0" dirty="0">
                          <a:solidFill>
                            <a:srgbClr val="000000"/>
                          </a:solidFill>
                          <a:latin typeface="+mn-lt"/>
                          <a:sym typeface="Canva Sans"/>
                        </a:rPr>
                        <a:t> Scholar </a:t>
                      </a:r>
                    </a:p>
                    <a:p>
                      <a:pPr algn="ctr">
                        <a:lnSpc>
                          <a:spcPts val="2800"/>
                        </a:lnSpc>
                        <a:defRPr/>
                      </a:pPr>
                      <a:r>
                        <a:rPr lang="en-US" sz="2500" u="none" strike="noStrike" baseline="0" dirty="0">
                          <a:solidFill>
                            <a:srgbClr val="000000"/>
                          </a:solidFill>
                          <a:latin typeface="+mn-lt"/>
                          <a:sym typeface="Canva Sans"/>
                        </a:rPr>
                        <a:t>(Cambridge University Press)</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r>
                        <a:rPr lang="en-US" sz="2500" dirty="0" err="1">
                          <a:latin typeface="+mn-lt"/>
                        </a:rPr>
                        <a:t>Preprocessing:Systematic</a:t>
                      </a:r>
                      <a:r>
                        <a:rPr lang="en-US" sz="2500" dirty="0">
                          <a:latin typeface="+mn-lt"/>
                        </a:rPr>
                        <a:t> search of major </a:t>
                      </a:r>
                      <a:r>
                        <a:rPr lang="en-US" sz="2500" dirty="0" err="1">
                          <a:latin typeface="+mn-lt"/>
                        </a:rPr>
                        <a:t>databases.PRISMA</a:t>
                      </a:r>
                      <a:r>
                        <a:rPr lang="en-US" sz="2500" dirty="0">
                          <a:latin typeface="+mn-lt"/>
                        </a:rPr>
                        <a:t> screening by two </a:t>
                      </a:r>
                      <a:r>
                        <a:rPr lang="en-US" sz="2500" dirty="0" err="1">
                          <a:latin typeface="+mn-lt"/>
                        </a:rPr>
                        <a:t>reviewers.Extracted</a:t>
                      </a:r>
                      <a:r>
                        <a:rPr lang="en-US" sz="2500" dirty="0">
                          <a:latin typeface="+mn-lt"/>
                        </a:rPr>
                        <a:t> key study details (model, purpose, findings).Algorithm:40 studies </a:t>
                      </a:r>
                      <a:r>
                        <a:rPr lang="en-US" sz="2500" dirty="0" err="1">
                          <a:latin typeface="+mn-lt"/>
                        </a:rPr>
                        <a:t>reviewed.Mostly</a:t>
                      </a:r>
                      <a:r>
                        <a:rPr lang="en-US" sz="2500" dirty="0">
                          <a:latin typeface="+mn-lt"/>
                        </a:rPr>
                        <a:t> prompt-based tests using </a:t>
                      </a:r>
                      <a:r>
                        <a:rPr lang="en-US" sz="2500" dirty="0" err="1">
                          <a:latin typeface="+mn-lt"/>
                        </a:rPr>
                        <a:t>ChatGPT.Main</a:t>
                      </a:r>
                      <a:r>
                        <a:rPr lang="en-US" sz="2500" dirty="0">
                          <a:latin typeface="+mn-lt"/>
                        </a:rPr>
                        <a:t> uses: knowledge checking, education, clinician support, ethics, </a:t>
                      </a:r>
                      <a:r>
                        <a:rPr lang="en-US" sz="2500" dirty="0" err="1">
                          <a:latin typeface="+mn-lt"/>
                        </a:rPr>
                        <a:t>chatbots.Validations:Compared</a:t>
                      </a:r>
                      <a:r>
                        <a:rPr lang="en-US" sz="2500" dirty="0">
                          <a:latin typeface="+mn-lt"/>
                        </a:rPr>
                        <a:t> AI answers with clinical </a:t>
                      </a:r>
                      <a:r>
                        <a:rPr lang="en-US" sz="2500" dirty="0" err="1">
                          <a:latin typeface="+mn-lt"/>
                        </a:rPr>
                        <a:t>standards.User</a:t>
                      </a:r>
                      <a:r>
                        <a:rPr lang="en-US" sz="2500" dirty="0">
                          <a:latin typeface="+mn-lt"/>
                        </a:rPr>
                        <a:t> surveys/interviews for </a:t>
                      </a:r>
                      <a:r>
                        <a:rPr lang="en-US" sz="2500" dirty="0" err="1">
                          <a:latin typeface="+mn-lt"/>
                        </a:rPr>
                        <a:t>feedback.Safety</a:t>
                      </a:r>
                      <a:r>
                        <a:rPr lang="en-US" sz="2500" dirty="0">
                          <a:latin typeface="+mn-lt"/>
                        </a:rPr>
                        <a:t> tested with sensitive scenarios.</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r>
                        <a:rPr lang="en-US" sz="2500" dirty="0">
                          <a:latin typeface="+mn-lt"/>
                        </a:rPr>
                        <a:t>Lack of standard definition for “generative AI” in mental health </a:t>
                      </a:r>
                      <a:r>
                        <a:rPr lang="en-US" sz="2500" dirty="0" err="1">
                          <a:latin typeface="+mn-lt"/>
                        </a:rPr>
                        <a:t>literature.Poor</a:t>
                      </a:r>
                      <a:r>
                        <a:rPr lang="en-US" sz="2500" dirty="0">
                          <a:latin typeface="+mn-lt"/>
                        </a:rPr>
                        <a:t> reporting: many papers don’t specify AI model version, or prompt </a:t>
                      </a:r>
                      <a:r>
                        <a:rPr lang="en-US" sz="2500" dirty="0" err="1">
                          <a:latin typeface="+mn-lt"/>
                        </a:rPr>
                        <a:t>design.Reproducibility</a:t>
                      </a:r>
                      <a:r>
                        <a:rPr lang="en-US" sz="2500" dirty="0">
                          <a:latin typeface="+mn-lt"/>
                        </a:rPr>
                        <a:t> issues: no consistent use of reporting guidelines.</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Freeform 15">
            <a:extLst>
              <a:ext uri="{FF2B5EF4-FFF2-40B4-BE49-F238E27FC236}">
                <a16:creationId xmlns:a16="http://schemas.microsoft.com/office/drawing/2014/main" id="{CEEC344D-3594-8D32-881B-54D69C433EBF}"/>
              </a:ext>
            </a:extLst>
          </p:cNvPr>
          <p:cNvSpPr/>
          <p:nvPr/>
        </p:nvSpPr>
        <p:spPr>
          <a:xfrm>
            <a:off x="0" y="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918898362"/>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81884-192C-FC5F-C969-5236E33BD570}"/>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551C7F27-9257-49CE-2C0D-5A5197EC68F4}"/>
              </a:ext>
            </a:extLst>
          </p:cNvPr>
          <p:cNvGrpSpPr/>
          <p:nvPr/>
        </p:nvGrpSpPr>
        <p:grpSpPr>
          <a:xfrm>
            <a:off x="-19050" y="-19050"/>
            <a:ext cx="18287998" cy="865389"/>
            <a:chOff x="0" y="0"/>
            <a:chExt cx="24383998" cy="1153852"/>
          </a:xfrm>
        </p:grpSpPr>
        <p:sp>
          <p:nvSpPr>
            <p:cNvPr id="11" name="Freeform 11">
              <a:extLst>
                <a:ext uri="{FF2B5EF4-FFF2-40B4-BE49-F238E27FC236}">
                  <a16:creationId xmlns:a16="http://schemas.microsoft.com/office/drawing/2014/main" id="{3F0543E9-C5EB-0D97-3406-8172A9AF5E8C}"/>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a:extLst>
                <a:ext uri="{FF2B5EF4-FFF2-40B4-BE49-F238E27FC236}">
                  <a16:creationId xmlns:a16="http://schemas.microsoft.com/office/drawing/2014/main" id="{53AF18D6-FDC1-5B85-2C9D-D1B6BC125218}"/>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a:extLst>
              <a:ext uri="{FF2B5EF4-FFF2-40B4-BE49-F238E27FC236}">
                <a16:creationId xmlns:a16="http://schemas.microsoft.com/office/drawing/2014/main" id="{EAB2D5DF-3D8F-FF3F-DF63-F8284DA374AB}"/>
              </a:ext>
            </a:extLst>
          </p:cNvPr>
          <p:cNvGrpSpPr/>
          <p:nvPr/>
        </p:nvGrpSpPr>
        <p:grpSpPr>
          <a:xfrm>
            <a:off x="0" y="555654"/>
            <a:ext cx="18288000" cy="745371"/>
            <a:chOff x="0" y="0"/>
            <a:chExt cx="24384000" cy="993828"/>
          </a:xfrm>
        </p:grpSpPr>
        <p:sp>
          <p:nvSpPr>
            <p:cNvPr id="15" name="Freeform 15">
              <a:extLst>
                <a:ext uri="{FF2B5EF4-FFF2-40B4-BE49-F238E27FC236}">
                  <a16:creationId xmlns:a16="http://schemas.microsoft.com/office/drawing/2014/main" id="{D685B5F7-D48C-8FCE-A141-A79C30986681}"/>
                </a:ext>
              </a:extLst>
            </p:cNvPr>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a:extLst>
                <a:ext uri="{FF2B5EF4-FFF2-40B4-BE49-F238E27FC236}">
                  <a16:creationId xmlns:a16="http://schemas.microsoft.com/office/drawing/2014/main" id="{8F402D0C-5EE2-75CD-CA41-0806593A186B}"/>
                </a:ext>
              </a:extLst>
            </p:cNvPr>
            <p:cNvSpPr txBox="1"/>
            <p:nvPr/>
          </p:nvSpPr>
          <p:spPr>
            <a:xfrm>
              <a:off x="0" y="381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      Gaps identified </a:t>
              </a:r>
            </a:p>
          </p:txBody>
        </p:sp>
      </p:grpSp>
      <p:sp>
        <p:nvSpPr>
          <p:cNvPr id="2" name="Rectangle 1">
            <a:extLst>
              <a:ext uri="{FF2B5EF4-FFF2-40B4-BE49-F238E27FC236}">
                <a16:creationId xmlns:a16="http://schemas.microsoft.com/office/drawing/2014/main" id="{5E519E80-992B-56E0-8669-526332330AEF}"/>
              </a:ext>
            </a:extLst>
          </p:cNvPr>
          <p:cNvSpPr/>
          <p:nvPr/>
        </p:nvSpPr>
        <p:spPr>
          <a:xfrm>
            <a:off x="1181100" y="2542788"/>
            <a:ext cx="15925800" cy="2600712"/>
          </a:xfrm>
          <a:prstGeom prst="rect">
            <a:avLst/>
          </a:prstGeom>
        </p:spPr>
        <p:txBody>
          <a:bodyPr wrap="square">
            <a:spAutoFit/>
          </a:bodyPr>
          <a:lstStyle/>
          <a:p>
            <a:r>
              <a:rPr lang="en-US" sz="2300" b="1" dirty="0"/>
              <a:t>Existing Solution</a:t>
            </a:r>
          </a:p>
          <a:p>
            <a:pPr marL="342900" indent="-342900">
              <a:buFont typeface="Arial" panose="020B0604020202020204" pitchFamily="34" charset="0"/>
              <a:buChar char="•"/>
            </a:pPr>
            <a:r>
              <a:rPr lang="en-US" sz="2300" b="1" dirty="0" err="1"/>
              <a:t>Dayora</a:t>
            </a:r>
            <a:endParaRPr lang="en-US" sz="2300" b="1" dirty="0"/>
          </a:p>
          <a:p>
            <a:pPr marL="800100" lvl="1" indent="-342900">
              <a:buFont typeface="Courier New" panose="02070309020205020404" pitchFamily="49" charset="0"/>
              <a:buChar char="o"/>
            </a:pPr>
            <a:r>
              <a:rPr lang="en-US" sz="2300" b="1" dirty="0"/>
              <a:t>Drawbacks: </a:t>
            </a:r>
            <a:r>
              <a:rPr lang="en-US" sz="2300" dirty="0"/>
              <a:t>It is a web app. Does not include habit tracking.</a:t>
            </a:r>
            <a:endParaRPr lang="en-US" sz="2300" b="1" dirty="0"/>
          </a:p>
          <a:p>
            <a:pPr marL="342900" indent="-342900">
              <a:buFont typeface="Arial" panose="020B0604020202020204" pitchFamily="34" charset="0"/>
              <a:buChar char="•"/>
            </a:pPr>
            <a:r>
              <a:rPr lang="en-US" sz="2300" b="1" dirty="0" err="1"/>
              <a:t>Woebot</a:t>
            </a:r>
            <a:endParaRPr lang="en-US" sz="2300" b="1" dirty="0"/>
          </a:p>
          <a:p>
            <a:pPr marL="800100" lvl="1" indent="-342900">
              <a:buFont typeface="Courier New" panose="02070309020205020404" pitchFamily="49" charset="0"/>
              <a:buChar char="o"/>
            </a:pPr>
            <a:r>
              <a:rPr lang="en-US" sz="2400" b="1" dirty="0"/>
              <a:t>Drawbacks: </a:t>
            </a:r>
            <a:r>
              <a:rPr lang="en-US" sz="2400" dirty="0"/>
              <a:t>Algorithmic bias, limited depth, not a replacement for professional care</a:t>
            </a:r>
            <a:endParaRPr lang="en-US" sz="2300" b="1" dirty="0"/>
          </a:p>
          <a:p>
            <a:pPr marL="342900" indent="-342900">
              <a:buFont typeface="Arial" panose="020B0604020202020204" pitchFamily="34" charset="0"/>
              <a:buChar char="•"/>
            </a:pPr>
            <a:r>
              <a:rPr lang="en-US" sz="2300" b="1" dirty="0" err="1"/>
              <a:t>Wysa</a:t>
            </a:r>
            <a:endParaRPr lang="en-US" sz="2300" dirty="0"/>
          </a:p>
          <a:p>
            <a:pPr marL="800100" lvl="1" indent="-342900">
              <a:buFont typeface="Courier New" panose="02070309020205020404" pitchFamily="49" charset="0"/>
              <a:buChar char="o"/>
            </a:pPr>
            <a:r>
              <a:rPr lang="en-US" sz="2300" b="1" dirty="0"/>
              <a:t>Drawbacks: </a:t>
            </a:r>
            <a:r>
              <a:rPr lang="en-US" sz="2400" dirty="0">
                <a:latin typeface="CircularXXWeb"/>
              </a:rPr>
              <a:t>Limited explainability, ethical/data concerns, not always clinically validated</a:t>
            </a:r>
            <a:r>
              <a:rPr lang="en-US" sz="2300" dirty="0"/>
              <a:t>.</a:t>
            </a:r>
          </a:p>
        </p:txBody>
      </p:sp>
      <p:sp>
        <p:nvSpPr>
          <p:cNvPr id="13" name="Freeform 15">
            <a:extLst>
              <a:ext uri="{FF2B5EF4-FFF2-40B4-BE49-F238E27FC236}">
                <a16:creationId xmlns:a16="http://schemas.microsoft.com/office/drawing/2014/main" id="{5B785119-E818-050A-BE92-42047C3BFAC3}"/>
              </a:ext>
            </a:extLst>
          </p:cNvPr>
          <p:cNvSpPr/>
          <p:nvPr/>
        </p:nvSpPr>
        <p:spPr>
          <a:xfrm>
            <a:off x="-19051" y="-3985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
        <p:nvSpPr>
          <p:cNvPr id="3" name="Rectangle 2">
            <a:extLst>
              <a:ext uri="{FF2B5EF4-FFF2-40B4-BE49-F238E27FC236}">
                <a16:creationId xmlns:a16="http://schemas.microsoft.com/office/drawing/2014/main" id="{1EA904E4-025A-EA9C-92B1-6B36B2D3B3F5}"/>
              </a:ext>
            </a:extLst>
          </p:cNvPr>
          <p:cNvSpPr/>
          <p:nvPr/>
        </p:nvSpPr>
        <p:spPr>
          <a:xfrm>
            <a:off x="1162049" y="5753100"/>
            <a:ext cx="15925800" cy="2215991"/>
          </a:xfrm>
          <a:prstGeom prst="rect">
            <a:avLst/>
          </a:prstGeom>
        </p:spPr>
        <p:txBody>
          <a:bodyPr wrap="square">
            <a:spAutoFit/>
          </a:bodyPr>
          <a:lstStyle/>
          <a:p>
            <a:pPr marL="342900" indent="-342900">
              <a:buFont typeface="Arial" panose="020B0604020202020204" pitchFamily="34" charset="0"/>
              <a:buChar char="•"/>
            </a:pPr>
            <a:r>
              <a:rPr lang="en-US" sz="2300" dirty="0"/>
              <a:t>Lack of reinforcement learning and personalization</a:t>
            </a:r>
          </a:p>
          <a:p>
            <a:pPr marL="342900" indent="-342900">
              <a:buFont typeface="Arial" panose="020B0604020202020204" pitchFamily="34" charset="0"/>
              <a:buChar char="•"/>
            </a:pPr>
            <a:r>
              <a:rPr lang="en-US" sz="2300" dirty="0"/>
              <a:t>There are ethical concerns like privacy of emotions, risk of manipulating feelings, and users doubting if the AI is real.</a:t>
            </a:r>
          </a:p>
          <a:p>
            <a:pPr marL="342900" indent="-342900">
              <a:buFont typeface="Arial" panose="020B0604020202020204" pitchFamily="34" charset="0"/>
              <a:buChar char="•"/>
            </a:pPr>
            <a:r>
              <a:rPr lang="en-US" sz="2300" dirty="0"/>
              <a:t>The system does not have reminders, games, or reward features to keep users </a:t>
            </a:r>
            <a:r>
              <a:rPr lang="en-US" sz="2300" dirty="0" err="1"/>
              <a:t>motivated.Some</a:t>
            </a:r>
            <a:r>
              <a:rPr lang="en-US" sz="2300" dirty="0"/>
              <a:t> performance issues include limited emotional understanding, occasional wrong or irrelevant responses (~20%), and certain algorithms not working well.</a:t>
            </a:r>
          </a:p>
          <a:p>
            <a:pPr marL="342900" indent="-342900">
              <a:buFont typeface="Arial" panose="020B0604020202020204" pitchFamily="34" charset="0"/>
              <a:buChar char="•"/>
            </a:pPr>
            <a:r>
              <a:rPr lang="en-US" sz="2300" dirty="0"/>
              <a:t>Research limitations include small and self-reported datasets, lack of diverse users, limited features, possible biases, poor reporting, and difficulty reproducing results.</a:t>
            </a:r>
          </a:p>
        </p:txBody>
      </p:sp>
    </p:spTree>
    <p:extLst>
      <p:ext uri="{BB962C8B-B14F-4D97-AF65-F5344CB8AC3E}">
        <p14:creationId xmlns:p14="http://schemas.microsoft.com/office/powerpoint/2010/main" val="957165623"/>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19050" y="-19050"/>
            <a:ext cx="18287998" cy="865389"/>
            <a:chOff x="0" y="0"/>
            <a:chExt cx="24383998" cy="1153852"/>
          </a:xfrm>
        </p:grpSpPr>
        <p:sp>
          <p:nvSpPr>
            <p:cNvPr id="8" name="Freeform 8"/>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9" name="TextBox 9"/>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1" name="Group 11"/>
          <p:cNvGrpSpPr/>
          <p:nvPr/>
        </p:nvGrpSpPr>
        <p:grpSpPr>
          <a:xfrm>
            <a:off x="0" y="576350"/>
            <a:ext cx="18288000" cy="904701"/>
            <a:chOff x="0" y="0"/>
            <a:chExt cx="24384000" cy="1206268"/>
          </a:xfrm>
        </p:grpSpPr>
        <p:sp>
          <p:nvSpPr>
            <p:cNvPr id="12" name="Freeform 12"/>
            <p:cNvSpPr/>
            <p:nvPr/>
          </p:nvSpPr>
          <p:spPr>
            <a:xfrm>
              <a:off x="0" y="0"/>
              <a:ext cx="24384000" cy="1206204"/>
            </a:xfrm>
            <a:custGeom>
              <a:avLst/>
              <a:gdLst/>
              <a:ahLst/>
              <a:cxnLst/>
              <a:rect l="l" t="t" r="r" b="b"/>
              <a:pathLst>
                <a:path w="24384000" h="1206204">
                  <a:moveTo>
                    <a:pt x="0" y="0"/>
                  </a:moveTo>
                  <a:lnTo>
                    <a:pt x="24384000" y="0"/>
                  </a:lnTo>
                  <a:lnTo>
                    <a:pt x="24384000" y="1206204"/>
                  </a:lnTo>
                  <a:lnTo>
                    <a:pt x="0" y="1206204"/>
                  </a:lnTo>
                  <a:close/>
                </a:path>
              </a:pathLst>
            </a:custGeom>
            <a:solidFill>
              <a:srgbClr val="F2F2F2"/>
            </a:solidFill>
          </p:spPr>
        </p:sp>
        <p:sp>
          <p:nvSpPr>
            <p:cNvPr id="13" name="TextBox 13"/>
            <p:cNvSpPr txBox="1"/>
            <p:nvPr/>
          </p:nvSpPr>
          <p:spPr>
            <a:xfrm>
              <a:off x="0" y="47625"/>
              <a:ext cx="24384000" cy="1158643"/>
            </a:xfrm>
            <a:prstGeom prst="rect">
              <a:avLst/>
            </a:prstGeom>
          </p:spPr>
          <p:txBody>
            <a:bodyPr lIns="50800" tIns="50800" rIns="50800" bIns="50800" rtlCol="0" anchor="t"/>
            <a:lstStyle/>
            <a:p>
              <a:pPr algn="l">
                <a:lnSpc>
                  <a:spcPts val="4536"/>
                </a:lnSpc>
              </a:pPr>
              <a:r>
                <a:rPr lang="en-US" sz="4200" b="1" dirty="0">
                  <a:solidFill>
                    <a:srgbClr val="114B79"/>
                  </a:solidFill>
                  <a:latin typeface="Canva Sans Bold"/>
                  <a:ea typeface="Canva Sans Bold"/>
                  <a:cs typeface="Canva Sans Bold"/>
                  <a:sym typeface="Canva Sans Bold"/>
                </a:rPr>
                <a:t>  Problem Statement</a:t>
              </a:r>
            </a:p>
          </p:txBody>
        </p:sp>
      </p:grpSp>
      <p:sp>
        <p:nvSpPr>
          <p:cNvPr id="15" name="Freeform 15"/>
          <p:cNvSpPr/>
          <p:nvPr/>
        </p:nvSpPr>
        <p:spPr>
          <a:xfrm>
            <a:off x="-20685" y="-16834"/>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
        <p:nvSpPr>
          <p:cNvPr id="2" name="TextBox 1">
            <a:extLst>
              <a:ext uri="{FF2B5EF4-FFF2-40B4-BE49-F238E27FC236}">
                <a16:creationId xmlns:a16="http://schemas.microsoft.com/office/drawing/2014/main" id="{3B94669E-510F-267C-CF67-6C30DEC2646F}"/>
              </a:ext>
            </a:extLst>
          </p:cNvPr>
          <p:cNvSpPr txBox="1"/>
          <p:nvPr/>
        </p:nvSpPr>
        <p:spPr>
          <a:xfrm>
            <a:off x="2057400" y="4358670"/>
            <a:ext cx="14173200" cy="1569660"/>
          </a:xfrm>
          <a:prstGeom prst="rect">
            <a:avLst/>
          </a:prstGeom>
          <a:noFill/>
        </p:spPr>
        <p:txBody>
          <a:bodyPr wrap="square" rtlCol="0">
            <a:spAutoFit/>
          </a:bodyPr>
          <a:lstStyle/>
          <a:p>
            <a:r>
              <a:rPr lang="en-US" sz="3200" dirty="0"/>
              <a:t>Students feel overwhelmed managing emotions, habits, and daily tasks because everything they need like journaling, habit tracking, reminders, and emotional support are scattered across different places.</a:t>
            </a:r>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9050" y="-19050"/>
            <a:ext cx="18287998" cy="865389"/>
            <a:chOff x="0" y="0"/>
            <a:chExt cx="24383998" cy="1153852"/>
          </a:xfrm>
        </p:grpSpPr>
        <p:sp>
          <p:nvSpPr>
            <p:cNvPr id="11" name="Freeform 11"/>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p:cNvGrpSpPr/>
          <p:nvPr/>
        </p:nvGrpSpPr>
        <p:grpSpPr>
          <a:xfrm>
            <a:off x="0" y="555654"/>
            <a:ext cx="18327832" cy="854046"/>
            <a:chOff x="0" y="0"/>
            <a:chExt cx="24437109" cy="1138728"/>
          </a:xfrm>
        </p:grpSpPr>
        <p:sp>
          <p:nvSpPr>
            <p:cNvPr id="15" name="Freeform 15"/>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p:cNvSpPr txBox="1"/>
            <p:nvPr/>
          </p:nvSpPr>
          <p:spPr>
            <a:xfrm>
              <a:off x="53109" y="1830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Proposed solution</a:t>
              </a:r>
            </a:p>
          </p:txBody>
        </p:sp>
      </p:grpSp>
      <p:sp>
        <p:nvSpPr>
          <p:cNvPr id="2" name="Rectangle 1"/>
          <p:cNvSpPr/>
          <p:nvPr/>
        </p:nvSpPr>
        <p:spPr>
          <a:xfrm>
            <a:off x="914399" y="3373785"/>
            <a:ext cx="16421100" cy="3539430"/>
          </a:xfrm>
          <a:prstGeom prst="rect">
            <a:avLst/>
          </a:prstGeom>
        </p:spPr>
        <p:txBody>
          <a:bodyPr wrap="square">
            <a:spAutoFit/>
          </a:bodyPr>
          <a:lstStyle/>
          <a:p>
            <a:pPr marL="457200" indent="-457200">
              <a:buFont typeface="Arial" panose="020B0604020202020204" pitchFamily="34" charset="0"/>
              <a:buChar char="•"/>
            </a:pPr>
            <a:r>
              <a:rPr lang="en-US" sz="3200" dirty="0"/>
              <a:t> Provide one unified app for journaling, habit tracking, reminders, and emotional support.</a:t>
            </a:r>
          </a:p>
          <a:p>
            <a:pPr marL="457200" indent="-457200">
              <a:buFont typeface="Arial" panose="020B0604020202020204" pitchFamily="34" charset="0"/>
              <a:buChar char="•"/>
            </a:pPr>
            <a:r>
              <a:rPr lang="en-US" sz="3200" dirty="0"/>
              <a:t> Offer a virtual AI friend that listens without judgment and is available anytime.</a:t>
            </a:r>
          </a:p>
          <a:p>
            <a:pPr marL="457200" indent="-457200">
              <a:buFont typeface="Arial" panose="020B0604020202020204" pitchFamily="34" charset="0"/>
              <a:buChar char="•"/>
            </a:pPr>
            <a:r>
              <a:rPr lang="en-US" sz="3200" dirty="0"/>
              <a:t> Include a simple, guided journal to help students express thoughts easily.</a:t>
            </a:r>
          </a:p>
          <a:p>
            <a:pPr marL="457200" indent="-457200">
              <a:buFont typeface="Arial" panose="020B0604020202020204" pitchFamily="34" charset="0"/>
              <a:buChar char="•"/>
            </a:pPr>
            <a:r>
              <a:rPr lang="en-US" sz="3200" dirty="0"/>
              <a:t> Add a habit tracker with reminders to build consistency in daily routines.</a:t>
            </a:r>
          </a:p>
          <a:p>
            <a:pPr marL="457200" indent="-457200">
              <a:buFont typeface="Arial" panose="020B0604020202020204" pitchFamily="34" charset="0"/>
              <a:buChar char="•"/>
            </a:pPr>
            <a:r>
              <a:rPr lang="en-US" sz="3200" dirty="0"/>
              <a:t> Give small in-app rewards for regular habits and journaling to keep users motivated.</a:t>
            </a:r>
          </a:p>
          <a:p>
            <a:pPr marL="457200" indent="-457200">
              <a:buFont typeface="Arial" panose="020B0604020202020204" pitchFamily="34" charset="0"/>
              <a:buChar char="•"/>
            </a:pPr>
            <a:r>
              <a:rPr lang="en-US" sz="3200" dirty="0"/>
              <a:t> Allow users to personalize their virtual friend using the rewards they earn.</a:t>
            </a:r>
          </a:p>
          <a:p>
            <a:pPr marL="457200" indent="-457200">
              <a:buFont typeface="Arial" panose="020B0604020202020204" pitchFamily="34" charset="0"/>
              <a:buChar char="•"/>
            </a:pPr>
            <a:r>
              <a:rPr lang="en-US" sz="3200" dirty="0"/>
              <a:t> Create a safe, supportive space that helps students manage emotions and stay organized.</a:t>
            </a:r>
          </a:p>
        </p:txBody>
      </p:sp>
      <p:sp>
        <p:nvSpPr>
          <p:cNvPr id="13" name="Freeform 15"/>
          <p:cNvSpPr/>
          <p:nvPr/>
        </p:nvSpPr>
        <p:spPr>
          <a:xfrm>
            <a:off x="0" y="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3996768054"/>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33B2E-62D6-6ED9-90B3-FDEC91F95CBB}"/>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F71986E2-665E-1C14-57C8-523B0A8F64C5}"/>
              </a:ext>
            </a:extLst>
          </p:cNvPr>
          <p:cNvGrpSpPr/>
          <p:nvPr/>
        </p:nvGrpSpPr>
        <p:grpSpPr>
          <a:xfrm>
            <a:off x="-19050" y="-19050"/>
            <a:ext cx="18287998" cy="865389"/>
            <a:chOff x="0" y="0"/>
            <a:chExt cx="24383998" cy="1153852"/>
          </a:xfrm>
        </p:grpSpPr>
        <p:sp>
          <p:nvSpPr>
            <p:cNvPr id="11" name="Freeform 11">
              <a:extLst>
                <a:ext uri="{FF2B5EF4-FFF2-40B4-BE49-F238E27FC236}">
                  <a16:creationId xmlns:a16="http://schemas.microsoft.com/office/drawing/2014/main" id="{8C5ECF45-EE73-1D93-AAA2-3442AA9402D2}"/>
                </a:ext>
              </a:extLst>
            </p:cNvPr>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12" name="TextBox 12">
              <a:extLst>
                <a:ext uri="{FF2B5EF4-FFF2-40B4-BE49-F238E27FC236}">
                  <a16:creationId xmlns:a16="http://schemas.microsoft.com/office/drawing/2014/main" id="{FC177C26-BA01-2568-4218-F3621E3EDE95}"/>
                </a:ext>
              </a:extLst>
            </p:cNvPr>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14" name="Group 14">
            <a:extLst>
              <a:ext uri="{FF2B5EF4-FFF2-40B4-BE49-F238E27FC236}">
                <a16:creationId xmlns:a16="http://schemas.microsoft.com/office/drawing/2014/main" id="{CFBFFBAA-AA64-4528-DC80-B4804DC95723}"/>
              </a:ext>
            </a:extLst>
          </p:cNvPr>
          <p:cNvGrpSpPr/>
          <p:nvPr/>
        </p:nvGrpSpPr>
        <p:grpSpPr>
          <a:xfrm>
            <a:off x="0" y="555654"/>
            <a:ext cx="18327832" cy="854046"/>
            <a:chOff x="0" y="0"/>
            <a:chExt cx="24437109" cy="1138728"/>
          </a:xfrm>
        </p:grpSpPr>
        <p:sp>
          <p:nvSpPr>
            <p:cNvPr id="15" name="Freeform 15">
              <a:extLst>
                <a:ext uri="{FF2B5EF4-FFF2-40B4-BE49-F238E27FC236}">
                  <a16:creationId xmlns:a16="http://schemas.microsoft.com/office/drawing/2014/main" id="{E41818CF-B670-0B9D-FF3D-DAACB08A63BD}"/>
                </a:ext>
              </a:extLst>
            </p:cNvPr>
            <p:cNvSpPr/>
            <p:nvPr/>
          </p:nvSpPr>
          <p:spPr>
            <a:xfrm>
              <a:off x="0" y="0"/>
              <a:ext cx="24384000" cy="993775"/>
            </a:xfrm>
            <a:custGeom>
              <a:avLst/>
              <a:gdLst/>
              <a:ahLst/>
              <a:cxnLst/>
              <a:rect l="l" t="t" r="r" b="b"/>
              <a:pathLst>
                <a:path w="24384000" h="993775">
                  <a:moveTo>
                    <a:pt x="0" y="0"/>
                  </a:moveTo>
                  <a:lnTo>
                    <a:pt x="24384000" y="0"/>
                  </a:lnTo>
                  <a:lnTo>
                    <a:pt x="24384000" y="993775"/>
                  </a:lnTo>
                  <a:lnTo>
                    <a:pt x="0" y="993775"/>
                  </a:lnTo>
                  <a:close/>
                </a:path>
              </a:pathLst>
            </a:custGeom>
            <a:solidFill>
              <a:srgbClr val="F2F2F2"/>
            </a:solidFill>
          </p:spPr>
        </p:sp>
        <p:sp>
          <p:nvSpPr>
            <p:cNvPr id="16" name="TextBox 16">
              <a:extLst>
                <a:ext uri="{FF2B5EF4-FFF2-40B4-BE49-F238E27FC236}">
                  <a16:creationId xmlns:a16="http://schemas.microsoft.com/office/drawing/2014/main" id="{A8465978-227E-15B9-D334-3AA53094FC91}"/>
                </a:ext>
              </a:extLst>
            </p:cNvPr>
            <p:cNvSpPr txBox="1"/>
            <p:nvPr/>
          </p:nvSpPr>
          <p:spPr>
            <a:xfrm>
              <a:off x="53109" y="183000"/>
              <a:ext cx="24384000" cy="955728"/>
            </a:xfrm>
            <a:prstGeom prst="rect">
              <a:avLst/>
            </a:prstGeom>
          </p:spPr>
          <p:txBody>
            <a:bodyPr lIns="50800" tIns="50800" rIns="50800" bIns="50800" rtlCol="0" anchor="t"/>
            <a:lstStyle/>
            <a:p>
              <a:pPr algn="l">
                <a:lnSpc>
                  <a:spcPts val="3564"/>
                </a:lnSpc>
              </a:pPr>
              <a:r>
                <a:rPr lang="en-US" sz="3300" b="1" dirty="0">
                  <a:solidFill>
                    <a:srgbClr val="114B79"/>
                  </a:solidFill>
                  <a:latin typeface="Canva Sans Bold"/>
                  <a:ea typeface="Canva Sans Bold"/>
                  <a:cs typeface="Canva Sans Bold"/>
                  <a:sym typeface="Canva Sans Bold"/>
                </a:rPr>
                <a:t>Flow of system</a:t>
              </a:r>
            </a:p>
          </p:txBody>
        </p:sp>
      </p:grpSp>
      <p:sp>
        <p:nvSpPr>
          <p:cNvPr id="13" name="Freeform 15">
            <a:extLst>
              <a:ext uri="{FF2B5EF4-FFF2-40B4-BE49-F238E27FC236}">
                <a16:creationId xmlns:a16="http://schemas.microsoft.com/office/drawing/2014/main" id="{EEF9F51F-87BB-88A0-57A8-9AA6540CDB17}"/>
              </a:ext>
            </a:extLst>
          </p:cNvPr>
          <p:cNvSpPr/>
          <p:nvPr/>
        </p:nvSpPr>
        <p:spPr>
          <a:xfrm>
            <a:off x="0" y="0"/>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pic>
        <p:nvPicPr>
          <p:cNvPr id="4" name="Picture 3">
            <a:extLst>
              <a:ext uri="{FF2B5EF4-FFF2-40B4-BE49-F238E27FC236}">
                <a16:creationId xmlns:a16="http://schemas.microsoft.com/office/drawing/2014/main" id="{EEBE220C-8A6C-94E2-2EAA-DBFDEB0066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6694" y="1997122"/>
            <a:ext cx="10234612" cy="7886590"/>
          </a:xfrm>
          <a:prstGeom prst="rect">
            <a:avLst/>
          </a:prstGeom>
        </p:spPr>
      </p:pic>
    </p:spTree>
    <p:extLst>
      <p:ext uri="{BB962C8B-B14F-4D97-AF65-F5344CB8AC3E}">
        <p14:creationId xmlns:p14="http://schemas.microsoft.com/office/powerpoint/2010/main" val="1689020044"/>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9051" y="-55764"/>
            <a:ext cx="18287998" cy="865389"/>
            <a:chOff x="0" y="0"/>
            <a:chExt cx="24383998" cy="1153852"/>
          </a:xfrm>
        </p:grpSpPr>
        <p:sp>
          <p:nvSpPr>
            <p:cNvPr id="4" name="Freeform 4"/>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5" name="TextBox 5"/>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7" name="Group 7"/>
          <p:cNvGrpSpPr/>
          <p:nvPr/>
        </p:nvGrpSpPr>
        <p:grpSpPr>
          <a:xfrm>
            <a:off x="-19051" y="432695"/>
            <a:ext cx="18383251" cy="761554"/>
            <a:chOff x="0" y="0"/>
            <a:chExt cx="24511001" cy="1015405"/>
          </a:xfrm>
        </p:grpSpPr>
        <p:sp>
          <p:nvSpPr>
            <p:cNvPr id="8" name="Freeform 8"/>
            <p:cNvSpPr/>
            <p:nvPr/>
          </p:nvSpPr>
          <p:spPr>
            <a:xfrm>
              <a:off x="0" y="0"/>
              <a:ext cx="24384000" cy="858861"/>
            </a:xfrm>
            <a:custGeom>
              <a:avLst/>
              <a:gdLst/>
              <a:ahLst/>
              <a:cxnLst/>
              <a:rect l="l" t="t" r="r" b="b"/>
              <a:pathLst>
                <a:path w="24384000" h="858861">
                  <a:moveTo>
                    <a:pt x="0" y="0"/>
                  </a:moveTo>
                  <a:lnTo>
                    <a:pt x="24384000" y="0"/>
                  </a:lnTo>
                  <a:lnTo>
                    <a:pt x="24384000" y="858861"/>
                  </a:lnTo>
                  <a:lnTo>
                    <a:pt x="0" y="858861"/>
                  </a:lnTo>
                  <a:close/>
                </a:path>
              </a:pathLst>
            </a:custGeom>
            <a:solidFill>
              <a:srgbClr val="F2F2F2"/>
            </a:solidFill>
          </p:spPr>
        </p:sp>
        <p:sp>
          <p:nvSpPr>
            <p:cNvPr id="9" name="TextBox 9"/>
            <p:cNvSpPr txBox="1"/>
            <p:nvPr/>
          </p:nvSpPr>
          <p:spPr>
            <a:xfrm>
              <a:off x="127001" y="185073"/>
              <a:ext cx="24384000" cy="830332"/>
            </a:xfrm>
            <a:prstGeom prst="rect">
              <a:avLst/>
            </a:prstGeom>
          </p:spPr>
          <p:txBody>
            <a:bodyPr lIns="50800" tIns="50800" rIns="50800" bIns="50800" rtlCol="0" anchor="t"/>
            <a:lstStyle/>
            <a:p>
              <a:pPr algn="l">
                <a:lnSpc>
                  <a:spcPts val="3024"/>
                </a:lnSpc>
              </a:pPr>
              <a:r>
                <a:rPr lang="en-US" sz="3300" b="1" dirty="0">
                  <a:solidFill>
                    <a:srgbClr val="114B79"/>
                  </a:solidFill>
                  <a:latin typeface="Canva Sans Bold"/>
                  <a:ea typeface="Canva Sans Bold"/>
                  <a:cs typeface="Canva Sans Bold"/>
                  <a:sym typeface="Canva Sans Bold"/>
                </a:rPr>
                <a:t>Data</a:t>
              </a:r>
              <a:r>
                <a:rPr lang="en-US" sz="2800" b="1" dirty="0">
                  <a:solidFill>
                    <a:srgbClr val="114B79"/>
                  </a:solidFill>
                  <a:latin typeface="Canva Sans Bold"/>
                  <a:ea typeface="Canva Sans Bold"/>
                  <a:cs typeface="Canva Sans Bold"/>
                  <a:sym typeface="Canva Sans Bold"/>
                </a:rPr>
                <a:t> </a:t>
              </a:r>
              <a:r>
                <a:rPr lang="en-US" sz="3300" b="1" dirty="0">
                  <a:solidFill>
                    <a:srgbClr val="114B79"/>
                  </a:solidFill>
                  <a:latin typeface="Canva Sans Bold"/>
                  <a:ea typeface="Canva Sans Bold"/>
                  <a:cs typeface="Canva Sans Bold"/>
                  <a:sym typeface="Canva Sans Bold"/>
                </a:rPr>
                <a:t>sources</a:t>
              </a:r>
            </a:p>
          </p:txBody>
        </p:sp>
      </p:grpSp>
      <p:graphicFrame>
        <p:nvGraphicFramePr>
          <p:cNvPr id="2" name="Table 1"/>
          <p:cNvGraphicFramePr>
            <a:graphicFrameLocks noGrp="1"/>
          </p:cNvGraphicFramePr>
          <p:nvPr>
            <p:extLst>
              <p:ext uri="{D42A27DB-BD31-4B8C-83A1-F6EECF244321}">
                <p14:modId xmlns:p14="http://schemas.microsoft.com/office/powerpoint/2010/main" val="798557744"/>
              </p:ext>
            </p:extLst>
          </p:nvPr>
        </p:nvGraphicFramePr>
        <p:xfrm>
          <a:off x="76200" y="1076842"/>
          <a:ext cx="17983200" cy="9210158"/>
        </p:xfrm>
        <a:graphic>
          <a:graphicData uri="http://schemas.openxmlformats.org/drawingml/2006/table">
            <a:tbl>
              <a:tblPr firstRow="1" firstCol="1" bandRow="1">
                <a:tableStyleId>{5C22544A-7EE6-4342-B048-85BDC9FD1C3A}</a:tableStyleId>
              </a:tblPr>
              <a:tblGrid>
                <a:gridCol w="2723839">
                  <a:extLst>
                    <a:ext uri="{9D8B030D-6E8A-4147-A177-3AD203B41FA5}">
                      <a16:colId xmlns:a16="http://schemas.microsoft.com/office/drawing/2014/main" val="826046338"/>
                    </a:ext>
                  </a:extLst>
                </a:gridCol>
                <a:gridCol w="5810561">
                  <a:extLst>
                    <a:ext uri="{9D8B030D-6E8A-4147-A177-3AD203B41FA5}">
                      <a16:colId xmlns:a16="http://schemas.microsoft.com/office/drawing/2014/main" val="2272182098"/>
                    </a:ext>
                  </a:extLst>
                </a:gridCol>
                <a:gridCol w="4038600">
                  <a:extLst>
                    <a:ext uri="{9D8B030D-6E8A-4147-A177-3AD203B41FA5}">
                      <a16:colId xmlns:a16="http://schemas.microsoft.com/office/drawing/2014/main" val="342624847"/>
                    </a:ext>
                  </a:extLst>
                </a:gridCol>
                <a:gridCol w="5410200">
                  <a:extLst>
                    <a:ext uri="{9D8B030D-6E8A-4147-A177-3AD203B41FA5}">
                      <a16:colId xmlns:a16="http://schemas.microsoft.com/office/drawing/2014/main" val="1566725060"/>
                    </a:ext>
                  </a:extLst>
                </a:gridCol>
              </a:tblGrid>
              <a:tr h="518347">
                <a:tc>
                  <a:txBody>
                    <a:bodyPr/>
                    <a:lstStyle/>
                    <a:p>
                      <a:pPr marL="0" marR="0">
                        <a:lnSpc>
                          <a:spcPct val="115000"/>
                        </a:lnSpc>
                        <a:spcBef>
                          <a:spcPts val="0"/>
                        </a:spcBef>
                        <a:spcAft>
                          <a:spcPts val="800"/>
                        </a:spcAft>
                      </a:pPr>
                      <a:r>
                        <a:rPr lang="en-US" sz="2000" kern="100" dirty="0">
                          <a:solidFill>
                            <a:schemeClr val="tx1"/>
                          </a:solidFill>
                          <a:effectLst/>
                          <a:latin typeface="+mj-lt"/>
                        </a:rPr>
                        <a:t>Dataset</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2000" kern="100">
                          <a:solidFill>
                            <a:schemeClr val="tx1"/>
                          </a:solidFill>
                          <a:effectLst/>
                          <a:latin typeface="+mj-lt"/>
                        </a:rPr>
                        <a:t>Description / Use</a:t>
                      </a:r>
                      <a:endParaRPr lang="en-US" sz="2000" kern="10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2000" kern="100">
                          <a:solidFill>
                            <a:schemeClr val="tx1"/>
                          </a:solidFill>
                          <a:effectLst/>
                          <a:latin typeface="+mj-lt"/>
                        </a:rPr>
                        <a:t>Download Link / Archive</a:t>
                      </a:r>
                      <a:endParaRPr lang="en-US" sz="2000" kern="10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2000" kern="100">
                          <a:solidFill>
                            <a:schemeClr val="tx1"/>
                          </a:solidFill>
                          <a:effectLst/>
                          <a:latin typeface="+mj-lt"/>
                        </a:rPr>
                        <a:t>Notes &amp; Limitations</a:t>
                      </a:r>
                      <a:endParaRPr lang="en-US" sz="2000" kern="10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661525"/>
                  </a:ext>
                </a:extLst>
              </a:tr>
              <a:tr h="2147087">
                <a:tc>
                  <a:txBody>
                    <a:bodyPr/>
                    <a:lstStyle/>
                    <a:p>
                      <a:pPr marL="0" marR="0" algn="ctr">
                        <a:lnSpc>
                          <a:spcPct val="115000"/>
                        </a:lnSpc>
                        <a:spcBef>
                          <a:spcPts val="0"/>
                        </a:spcBef>
                        <a:spcAft>
                          <a:spcPts val="800"/>
                        </a:spcAft>
                      </a:pPr>
                      <a:r>
                        <a:rPr lang="en-US" sz="2000" kern="100" dirty="0">
                          <a:solidFill>
                            <a:schemeClr val="tx1"/>
                          </a:solidFill>
                          <a:effectLst/>
                          <a:latin typeface="+mj-lt"/>
                        </a:rPr>
                        <a:t>AI‑Driven Mental Health Literacy (India, intervention study)</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2000" kern="100" dirty="0">
                          <a:solidFill>
                            <a:schemeClr val="tx1"/>
                          </a:solidFill>
                          <a:effectLst/>
                          <a:latin typeface="+mj-lt"/>
                        </a:rPr>
                        <a:t>This is data from an Indian study where </a:t>
                      </a:r>
                      <a:r>
                        <a:rPr lang="en-US" sz="2000" kern="100" dirty="0" err="1">
                          <a:solidFill>
                            <a:schemeClr val="tx1"/>
                          </a:solidFill>
                          <a:effectLst/>
                          <a:latin typeface="+mj-lt"/>
                        </a:rPr>
                        <a:t>ChatGPT</a:t>
                      </a:r>
                      <a:r>
                        <a:rPr lang="en-US" sz="2000" kern="100" dirty="0">
                          <a:solidFill>
                            <a:schemeClr val="tx1"/>
                          </a:solidFill>
                          <a:effectLst/>
                          <a:latin typeface="+mj-lt"/>
                        </a:rPr>
                        <a:t>-based prompts were used in mental health literacy intervention among college students</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2000" kern="100">
                          <a:solidFill>
                            <a:schemeClr val="tx1"/>
                          </a:solidFill>
                          <a:effectLst/>
                          <a:latin typeface="+mj-lt"/>
                        </a:rPr>
                        <a:t>PsychArchives: “Dataset for: AI‑Driven Mental Health Literacy: An Interventional Study from India” (CSV + codebook) </a:t>
                      </a:r>
                      <a:r>
                        <a:rPr lang="en-US" sz="2000" u="sng" kern="100">
                          <a:solidFill>
                            <a:schemeClr val="tx1"/>
                          </a:solidFill>
                          <a:effectLst/>
                          <a:latin typeface="+mj-lt"/>
                          <a:hlinkClick r:id="rId3"/>
                        </a:rPr>
                        <a:t>PsychArchives</a:t>
                      </a:r>
                      <a:endParaRPr lang="en-US" sz="2000" kern="10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2000" kern="100" dirty="0">
                          <a:solidFill>
                            <a:schemeClr val="tx1"/>
                          </a:solidFill>
                          <a:effectLst/>
                          <a:latin typeface="+mj-lt"/>
                        </a:rPr>
                        <a:t>This is more survey / intervention data (questionnaire, text responses) than physiological signals.</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4390146"/>
                  </a:ext>
                </a:extLst>
              </a:tr>
              <a:tr h="2452490">
                <a:tc>
                  <a:txBody>
                    <a:bodyPr/>
                    <a:lstStyle/>
                    <a:p>
                      <a:pPr marL="0" marR="0" algn="ctr">
                        <a:lnSpc>
                          <a:spcPct val="115000"/>
                        </a:lnSpc>
                        <a:spcBef>
                          <a:spcPts val="0"/>
                        </a:spcBef>
                        <a:spcAft>
                          <a:spcPts val="800"/>
                        </a:spcAft>
                      </a:pPr>
                      <a:r>
                        <a:rPr lang="en-US" sz="2000" kern="100" dirty="0" err="1">
                          <a:solidFill>
                            <a:schemeClr val="tx1"/>
                          </a:solidFill>
                          <a:effectLst/>
                          <a:latin typeface="+mj-lt"/>
                          <a:ea typeface="Calibri" panose="020F0502020204030204" pitchFamily="34" charset="0"/>
                          <a:cs typeface="Times New Roman" panose="02020603050405020304" pitchFamily="18" charset="0"/>
                        </a:rPr>
                        <a:t>MoodMirror</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1800" b="0" i="0" kern="1200" dirty="0" err="1">
                          <a:solidFill>
                            <a:schemeClr val="dk1"/>
                          </a:solidFill>
                          <a:effectLst/>
                          <a:latin typeface="+mj-lt"/>
                          <a:ea typeface="+mn-ea"/>
                          <a:cs typeface="+mn-cs"/>
                        </a:rPr>
                        <a:t>MoodMirror</a:t>
                      </a:r>
                      <a:r>
                        <a:rPr lang="en-US" sz="1800" b="0" i="0" kern="1200" dirty="0">
                          <a:solidFill>
                            <a:schemeClr val="dk1"/>
                          </a:solidFill>
                          <a:effectLst/>
                          <a:latin typeface="+mj-lt"/>
                          <a:ea typeface="+mn-ea"/>
                          <a:cs typeface="+mn-cs"/>
                        </a:rPr>
                        <a:t> is a video-journaling app that lets users record their thoughts, then uses AI to analyze facial expressions and spoken text to infer their emotions. Mood Me It’s designed for private self-reflection: journal entries are stored on the user’s device, not centrally.</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1800" b="0" i="0" u="sng" kern="1200" dirty="0">
                          <a:solidFill>
                            <a:schemeClr val="dk1"/>
                          </a:solidFill>
                          <a:effectLst/>
                          <a:latin typeface="+mj-lt"/>
                          <a:ea typeface="+mn-ea"/>
                          <a:cs typeface="+mn-cs"/>
                          <a:hlinkClick r:id="rId4"/>
                        </a:rPr>
                        <a:t>https://ieee-dataport.org/documents/moodmirror-dataset-sentiment-and-emotion-analysis</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1800" b="0" i="0" kern="1200" dirty="0">
                          <a:solidFill>
                            <a:schemeClr val="dk1"/>
                          </a:solidFill>
                          <a:effectLst/>
                          <a:latin typeface="+mj-lt"/>
                          <a:ea typeface="+mn-ea"/>
                          <a:cs typeface="+mn-cs"/>
                        </a:rPr>
                        <a:t>Emotional analysis is done via proprietary AI (facial + text), but the model details, accuracy, or datasets used for training are not public. Privacy concerns: since emotion data (face + speech) is sensitive, ethical / consent issues would be important if data were shared. Potential sample bias: users who choose to journal may not be representative of the general population.</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8490622"/>
                  </a:ext>
                </a:extLst>
              </a:tr>
              <a:tr h="2046117">
                <a:tc>
                  <a:txBody>
                    <a:bodyPr/>
                    <a:lstStyle/>
                    <a:p>
                      <a:pPr marL="0" marR="0" algn="ctr">
                        <a:lnSpc>
                          <a:spcPct val="115000"/>
                        </a:lnSpc>
                        <a:spcBef>
                          <a:spcPts val="0"/>
                        </a:spcBef>
                        <a:spcAft>
                          <a:spcPts val="800"/>
                        </a:spcAft>
                      </a:pPr>
                      <a:r>
                        <a:rPr lang="en-US" sz="2000" kern="100" dirty="0">
                          <a:solidFill>
                            <a:schemeClr val="tx1"/>
                          </a:solidFill>
                          <a:effectLst/>
                          <a:latin typeface="+mj-lt"/>
                        </a:rPr>
                        <a:t>Student stress monitoring dataset</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1800" b="0" i="0" kern="1200" dirty="0">
                          <a:solidFill>
                            <a:schemeClr val="dk1"/>
                          </a:solidFill>
                          <a:effectLst/>
                          <a:latin typeface="+mj-lt"/>
                          <a:ea typeface="+mn-ea"/>
                          <a:cs typeface="+mn-cs"/>
                        </a:rPr>
                        <a:t>A survey-based dataset containing psychological, academic, social, and environmental stress factors among students. It includes two combined datasets (~1,900 records) with features and labeled stress levels (low/medium/high). Useful for stress analysis and machine-learning classification.</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1800" b="0" i="0" u="sng" kern="1200" dirty="0">
                          <a:solidFill>
                            <a:schemeClr val="dk1"/>
                          </a:solidFill>
                          <a:effectLst/>
                          <a:latin typeface="+mj-lt"/>
                          <a:ea typeface="+mn-ea"/>
                          <a:cs typeface="+mn-cs"/>
                          <a:hlinkClick r:id="rId5"/>
                        </a:rPr>
                        <a:t>https://www.kaggle.com/datasets/mdsultanulislamovi/student-stress-monitoring-datasets</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1800" b="0" i="0" kern="1200" dirty="0">
                          <a:solidFill>
                            <a:schemeClr val="dk1"/>
                          </a:solidFill>
                          <a:effectLst/>
                          <a:latin typeface="+mj-lt"/>
                          <a:ea typeface="+mn-ea"/>
                          <a:cs typeface="+mn-cs"/>
                        </a:rPr>
                        <a:t>Modest sample size → limited generalizability No physiological sensor data; only questionnaires Possible class imbalance May not represent all student populations</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5138925"/>
                  </a:ext>
                </a:extLst>
              </a:tr>
              <a:tr h="2046117">
                <a:tc>
                  <a:txBody>
                    <a:bodyPr/>
                    <a:lstStyle/>
                    <a:p>
                      <a:pPr marL="0" marR="0" algn="ctr">
                        <a:lnSpc>
                          <a:spcPct val="115000"/>
                        </a:lnSpc>
                        <a:spcBef>
                          <a:spcPts val="0"/>
                        </a:spcBef>
                        <a:spcAft>
                          <a:spcPts val="800"/>
                        </a:spcAft>
                      </a:pPr>
                      <a:r>
                        <a:rPr lang="en-US" sz="2000" kern="100" dirty="0">
                          <a:solidFill>
                            <a:schemeClr val="tx1"/>
                          </a:solidFill>
                          <a:effectLst/>
                          <a:latin typeface="+mj-lt"/>
                          <a:ea typeface="Calibri" panose="020F0502020204030204" pitchFamily="34" charset="0"/>
                          <a:cs typeface="Times New Roman" panose="02020603050405020304" pitchFamily="18" charset="0"/>
                        </a:rPr>
                        <a:t>Emotional Monitoring dataset</a:t>
                      </a: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1800" b="0" i="0" kern="1200" dirty="0">
                          <a:solidFill>
                            <a:schemeClr val="dk1"/>
                          </a:solidFill>
                          <a:effectLst/>
                          <a:latin typeface="+mj-lt"/>
                          <a:ea typeface="+mn-ea"/>
                          <a:cs typeface="+mn-cs"/>
                        </a:rPr>
                        <a:t>A dataset created for emotional-monitoring research in educational settings. It is intended to capture students’ emotional or cognitive states (likely through behavioral or physiological signals), but the Kaggle page provides minimal details about data structure, collection methods, or participant demographics.</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1800" b="0" i="0" u="sng" kern="1200" dirty="0">
                          <a:solidFill>
                            <a:schemeClr val="dk1"/>
                          </a:solidFill>
                          <a:effectLst/>
                          <a:latin typeface="+mj-lt"/>
                          <a:ea typeface="+mn-ea"/>
                          <a:cs typeface="+mn-cs"/>
                          <a:hlinkClick r:id="rId6"/>
                        </a:rPr>
                        <a:t>https://www.kaggle.com/datasets/ziya07/emotional-monitoring-dataset</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800"/>
                        </a:spcAft>
                      </a:pPr>
                      <a:r>
                        <a:rPr lang="en-US" sz="1800" b="0" i="0" kern="1200" dirty="0">
                          <a:solidFill>
                            <a:schemeClr val="dk1"/>
                          </a:solidFill>
                          <a:effectLst/>
                          <a:latin typeface="+mj-lt"/>
                          <a:ea typeface="+mn-ea"/>
                          <a:cs typeface="+mn-cs"/>
                        </a:rPr>
                        <a:t>Very limited documentation on features, sensors, or data collection Unknown sample size and participant diversity May not generalize beyond the specific educational context</a:t>
                      </a:r>
                      <a:endParaRPr lang="en-US" sz="2000" kern="100" dirty="0">
                        <a:solidFill>
                          <a:schemeClr val="tx1"/>
                        </a:solidFill>
                        <a:effectLst/>
                        <a:latin typeface="+mj-lt"/>
                        <a:ea typeface="Calibri" panose="020F0502020204030204" pitchFamily="34" charset="0"/>
                        <a:cs typeface="Times New Roman" panose="02020603050405020304" pitchFamily="18" charset="0"/>
                      </a:endParaRPr>
                    </a:p>
                  </a:txBody>
                  <a:tcPr marL="5447" marR="5447" marT="5447" marB="5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713237"/>
                  </a:ext>
                </a:extLst>
              </a:tr>
            </a:tbl>
          </a:graphicData>
        </a:graphic>
      </p:graphicFrame>
      <p:sp>
        <p:nvSpPr>
          <p:cNvPr id="10" name="Freeform 15"/>
          <p:cNvSpPr/>
          <p:nvPr/>
        </p:nvSpPr>
        <p:spPr>
          <a:xfrm>
            <a:off x="-19594" y="-59853"/>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7"/>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9051" y="-55764"/>
            <a:ext cx="18287998" cy="865389"/>
            <a:chOff x="0" y="0"/>
            <a:chExt cx="24383998" cy="1153852"/>
          </a:xfrm>
        </p:grpSpPr>
        <p:sp>
          <p:nvSpPr>
            <p:cNvPr id="4" name="Freeform 4"/>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5" name="TextBox 5"/>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7" name="Group 7"/>
          <p:cNvGrpSpPr/>
          <p:nvPr/>
        </p:nvGrpSpPr>
        <p:grpSpPr>
          <a:xfrm>
            <a:off x="-19051" y="487434"/>
            <a:ext cx="18383251" cy="769866"/>
            <a:chOff x="0" y="72986"/>
            <a:chExt cx="24511001" cy="1026488"/>
          </a:xfrm>
        </p:grpSpPr>
        <p:sp>
          <p:nvSpPr>
            <p:cNvPr id="8" name="Freeform 8"/>
            <p:cNvSpPr/>
            <p:nvPr/>
          </p:nvSpPr>
          <p:spPr>
            <a:xfrm>
              <a:off x="0" y="72986"/>
              <a:ext cx="24384000" cy="858863"/>
            </a:xfrm>
            <a:custGeom>
              <a:avLst/>
              <a:gdLst/>
              <a:ahLst/>
              <a:cxnLst/>
              <a:rect l="l" t="t" r="r" b="b"/>
              <a:pathLst>
                <a:path w="24384000" h="858861">
                  <a:moveTo>
                    <a:pt x="0" y="0"/>
                  </a:moveTo>
                  <a:lnTo>
                    <a:pt x="24384000" y="0"/>
                  </a:lnTo>
                  <a:lnTo>
                    <a:pt x="24384000" y="858861"/>
                  </a:lnTo>
                  <a:lnTo>
                    <a:pt x="0" y="858861"/>
                  </a:lnTo>
                  <a:close/>
                </a:path>
              </a:pathLst>
            </a:custGeom>
            <a:solidFill>
              <a:srgbClr val="F2F2F2"/>
            </a:solidFill>
          </p:spPr>
        </p:sp>
        <p:sp>
          <p:nvSpPr>
            <p:cNvPr id="9" name="TextBox 9"/>
            <p:cNvSpPr txBox="1"/>
            <p:nvPr/>
          </p:nvSpPr>
          <p:spPr>
            <a:xfrm>
              <a:off x="127001" y="269142"/>
              <a:ext cx="24384000" cy="830332"/>
            </a:xfrm>
            <a:prstGeom prst="rect">
              <a:avLst/>
            </a:prstGeom>
          </p:spPr>
          <p:txBody>
            <a:bodyPr lIns="50800" tIns="50800" rIns="50800" bIns="50800" rtlCol="0" anchor="t"/>
            <a:lstStyle/>
            <a:p>
              <a:pPr algn="l">
                <a:lnSpc>
                  <a:spcPts val="3024"/>
                </a:lnSpc>
              </a:pPr>
              <a:r>
                <a:rPr lang="en-US" sz="3300" b="1" dirty="0">
                  <a:solidFill>
                    <a:srgbClr val="114B79"/>
                  </a:solidFill>
                  <a:latin typeface="Canva Sans Bold"/>
                  <a:ea typeface="Canva Sans Bold"/>
                  <a:cs typeface="Canva Sans Bold"/>
                  <a:sym typeface="Canva Sans Bold"/>
                </a:rPr>
                <a:t>References </a:t>
              </a:r>
            </a:p>
          </p:txBody>
        </p:sp>
      </p:grpSp>
      <p:graphicFrame>
        <p:nvGraphicFramePr>
          <p:cNvPr id="10" name="Table 12"/>
          <p:cNvGraphicFramePr>
            <a:graphicFrameLocks noGrp="1"/>
          </p:cNvGraphicFramePr>
          <p:nvPr>
            <p:extLst>
              <p:ext uri="{D42A27DB-BD31-4B8C-83A1-F6EECF244321}">
                <p14:modId xmlns:p14="http://schemas.microsoft.com/office/powerpoint/2010/main" val="3539292328"/>
              </p:ext>
            </p:extLst>
          </p:nvPr>
        </p:nvGraphicFramePr>
        <p:xfrm>
          <a:off x="770920" y="3285499"/>
          <a:ext cx="16708055" cy="4762833"/>
        </p:xfrm>
        <a:graphic>
          <a:graphicData uri="http://schemas.openxmlformats.org/drawingml/2006/table">
            <a:tbl>
              <a:tblPr/>
              <a:tblGrid>
                <a:gridCol w="5791179">
                  <a:extLst>
                    <a:ext uri="{9D8B030D-6E8A-4147-A177-3AD203B41FA5}">
                      <a16:colId xmlns:a16="http://schemas.microsoft.com/office/drawing/2014/main" val="20000"/>
                    </a:ext>
                  </a:extLst>
                </a:gridCol>
                <a:gridCol w="5791179">
                  <a:extLst>
                    <a:ext uri="{9D8B030D-6E8A-4147-A177-3AD203B41FA5}">
                      <a16:colId xmlns:a16="http://schemas.microsoft.com/office/drawing/2014/main" val="20001"/>
                    </a:ext>
                  </a:extLst>
                </a:gridCol>
                <a:gridCol w="5125697">
                  <a:extLst>
                    <a:ext uri="{9D8B030D-6E8A-4147-A177-3AD203B41FA5}">
                      <a16:colId xmlns:a16="http://schemas.microsoft.com/office/drawing/2014/main" val="20002"/>
                    </a:ext>
                  </a:extLst>
                </a:gridCol>
              </a:tblGrid>
              <a:tr h="715001">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Paper Name</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Author(s)</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Journal/Publication Source</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38633">
                <a:tc>
                  <a:txBody>
                    <a:bodyPr/>
                    <a:lstStyle/>
                    <a:p>
                      <a:pPr algn="ctr"/>
                      <a:r>
                        <a:rPr lang="en-US" sz="2500" b="0" i="0" kern="1200" dirty="0">
                          <a:solidFill>
                            <a:schemeClr val="tx1"/>
                          </a:solidFill>
                          <a:effectLst/>
                          <a:latin typeface="+mn-lt"/>
                          <a:ea typeface="+mn-ea"/>
                          <a:cs typeface="+mn-cs"/>
                        </a:rPr>
                        <a:t>Use of generative AI in psychiatry and mental health care: a systematic review</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latin typeface="+mn-lt"/>
                        </a:rPr>
                        <a:t>Sara</a:t>
                      </a:r>
                      <a:r>
                        <a:rPr lang="en-US" sz="2500" baseline="0" dirty="0">
                          <a:latin typeface="+mn-lt"/>
                        </a:rPr>
                        <a:t> Kolding, Robert M. Lundin, Lasse Hansen, </a:t>
                      </a:r>
                      <a:r>
                        <a:rPr lang="en-US" sz="2500" b="0" i="0" kern="1200" dirty="0" err="1">
                          <a:solidFill>
                            <a:schemeClr val="tx1"/>
                          </a:solidFill>
                          <a:effectLst/>
                          <a:latin typeface="+mn-lt"/>
                          <a:ea typeface="+mn-ea"/>
                          <a:cs typeface="+mn-cs"/>
                        </a:rPr>
                        <a:t>Søren</a:t>
                      </a:r>
                      <a:r>
                        <a:rPr lang="en-US" sz="2500" b="0" i="0" kern="1200" dirty="0">
                          <a:solidFill>
                            <a:schemeClr val="tx1"/>
                          </a:solidFill>
                          <a:effectLst/>
                          <a:latin typeface="+mn-lt"/>
                          <a:ea typeface="+mn-ea"/>
                          <a:cs typeface="+mn-cs"/>
                        </a:rPr>
                        <a:t> Dinesen </a:t>
                      </a:r>
                      <a:r>
                        <a:rPr lang="en-US" sz="2500" b="0" i="0" kern="1200" dirty="0" err="1">
                          <a:solidFill>
                            <a:schemeClr val="tx1"/>
                          </a:solidFill>
                          <a:effectLst/>
                          <a:latin typeface="+mn-lt"/>
                          <a:ea typeface="+mn-ea"/>
                          <a:cs typeface="+mn-cs"/>
                        </a:rPr>
                        <a:t>Østergaard</a:t>
                      </a:r>
                      <a:endParaRPr lang="en-US" sz="2500" b="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latin typeface="+mn-lt"/>
                        </a:rPr>
                        <a:t>Google Scholar (Cambridge University)</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8633">
                <a:tc>
                  <a:txBody>
                    <a:bodyPr/>
                    <a:lstStyle/>
                    <a:p>
                      <a:pPr algn="ctr"/>
                      <a:r>
                        <a:rPr lang="en-US" sz="2500" b="0" i="0" kern="1200" dirty="0">
                          <a:solidFill>
                            <a:schemeClr val="tx1"/>
                          </a:solidFill>
                          <a:effectLst/>
                          <a:latin typeface="+mn-lt"/>
                          <a:ea typeface="+mn-ea"/>
                          <a:cs typeface="+mn-cs"/>
                        </a:rPr>
                        <a:t>Mental Health Prediction Using Ensemble Learning Approaches with Rebalancing Technique</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err="1">
                          <a:latin typeface="+mn-lt"/>
                        </a:rPr>
                        <a:t>Nurmi</a:t>
                      </a:r>
                      <a:r>
                        <a:rPr lang="en-US" sz="2500" dirty="0">
                          <a:latin typeface="+mn-lt"/>
                        </a:rPr>
                        <a:t> </a:t>
                      </a:r>
                      <a:r>
                        <a:rPr lang="en-US" sz="2500" dirty="0" err="1">
                          <a:latin typeface="+mn-lt"/>
                        </a:rPr>
                        <a:t>Adilah</a:t>
                      </a:r>
                      <a:r>
                        <a:rPr lang="en-US" sz="2500" dirty="0">
                          <a:latin typeface="+mn-lt"/>
                        </a:rPr>
                        <a:t> </a:t>
                      </a:r>
                      <a:r>
                        <a:rPr lang="en-US" sz="2500" dirty="0" err="1">
                          <a:latin typeface="+mn-lt"/>
                        </a:rPr>
                        <a:t>Amiludin</a:t>
                      </a:r>
                      <a:r>
                        <a:rPr lang="en-US" sz="2500" dirty="0">
                          <a:latin typeface="+mn-lt"/>
                        </a:rPr>
                        <a:t>, </a:t>
                      </a:r>
                      <a:r>
                        <a:rPr lang="en-US" sz="2500" dirty="0" err="1">
                          <a:latin typeface="+mn-lt"/>
                        </a:rPr>
                        <a:t>Marshima</a:t>
                      </a:r>
                      <a:r>
                        <a:rPr lang="en-US" sz="2500" dirty="0">
                          <a:latin typeface="+mn-lt"/>
                        </a:rPr>
                        <a:t> </a:t>
                      </a:r>
                      <a:r>
                        <a:rPr lang="en-US" sz="2500" dirty="0" err="1">
                          <a:latin typeface="+mn-lt"/>
                        </a:rPr>
                        <a:t>Mohd</a:t>
                      </a:r>
                      <a:r>
                        <a:rPr lang="en-US" sz="2500" dirty="0">
                          <a:latin typeface="+mn-lt"/>
                        </a:rPr>
                        <a:t> </a:t>
                      </a:r>
                      <a:r>
                        <a:rPr lang="en-US" sz="2500" dirty="0" err="1">
                          <a:latin typeface="+mn-lt"/>
                        </a:rPr>
                        <a:t>Rosli</a:t>
                      </a:r>
                      <a:r>
                        <a:rPr lang="en-US" sz="2500" dirty="0">
                          <a:latin typeface="+mn-lt"/>
                        </a:rPr>
                        <a:t>, </a:t>
                      </a:r>
                      <a:r>
                        <a:rPr lang="en-US" sz="2500" dirty="0" err="1">
                          <a:latin typeface="+mn-lt"/>
                        </a:rPr>
                        <a:t>Nurain</a:t>
                      </a:r>
                      <a:r>
                        <a:rPr lang="en-US" sz="2500" dirty="0">
                          <a:latin typeface="+mn-lt"/>
                        </a:rPr>
                        <a:t> Ibrahim, Waleed A </a:t>
                      </a:r>
                      <a:r>
                        <a:rPr lang="en-US" sz="2500" dirty="0" err="1">
                          <a:latin typeface="+mn-lt"/>
                        </a:rPr>
                        <a:t>Hammood</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a:solidFill>
                            <a:srgbClr val="000000"/>
                          </a:solidFill>
                          <a:latin typeface="+mn-lt"/>
                          <a:ea typeface="Canva Sans"/>
                          <a:cs typeface="Canva Sans"/>
                          <a:sym typeface="Canva Sans"/>
                        </a:rPr>
                        <a:t>IEEE</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38633">
                <a:tc>
                  <a:txBody>
                    <a:bodyPr/>
                    <a:lstStyle/>
                    <a:p>
                      <a:pPr algn="ctr">
                        <a:lnSpc>
                          <a:spcPts val="2800"/>
                        </a:lnSpc>
                        <a:defRPr/>
                      </a:pPr>
                      <a:r>
                        <a:rPr lang="en-US" sz="2500" dirty="0">
                          <a:latin typeface="+mn-lt"/>
                        </a:rPr>
                        <a:t>Predicting the Utilization of Mental Health Treatment with Various Machine Learning Algorithms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dirty="0" err="1">
                          <a:latin typeface="+mn-lt"/>
                        </a:rPr>
                        <a:t>Meera</a:t>
                      </a:r>
                      <a:r>
                        <a:rPr lang="en-US" sz="2500" baseline="0" dirty="0">
                          <a:latin typeface="+mn-lt"/>
                        </a:rPr>
                        <a:t> Sharma</a:t>
                      </a:r>
                      <a:r>
                        <a:rPr lang="en-US" sz="2500" dirty="0">
                          <a:latin typeface="+mn-lt"/>
                        </a:rPr>
                        <a:t>, </a:t>
                      </a:r>
                      <a:r>
                        <a:rPr lang="en-US" sz="2500" dirty="0" err="1">
                          <a:latin typeface="+mn-lt"/>
                        </a:rPr>
                        <a:t>Sonok</a:t>
                      </a:r>
                      <a:r>
                        <a:rPr lang="en-US" sz="2500" dirty="0">
                          <a:latin typeface="+mn-lt"/>
                        </a:rPr>
                        <a:t> </a:t>
                      </a:r>
                      <a:r>
                        <a:rPr lang="en-US" sz="2500" dirty="0" err="1">
                          <a:latin typeface="+mn-lt"/>
                        </a:rPr>
                        <a:t>Mahapatra</a:t>
                      </a:r>
                      <a:r>
                        <a:rPr lang="en-US" sz="2500" dirty="0">
                          <a:latin typeface="+mn-lt"/>
                        </a:rPr>
                        <a:t>, </a:t>
                      </a:r>
                      <a:r>
                        <a:rPr lang="en-US" sz="2500" dirty="0" err="1">
                          <a:latin typeface="+mn-lt"/>
                        </a:rPr>
                        <a:t>Adeethiya</a:t>
                      </a:r>
                      <a:r>
                        <a:rPr lang="en-US" sz="2500" dirty="0">
                          <a:latin typeface="+mn-lt"/>
                        </a:rPr>
                        <a:t> Shankar,</a:t>
                      </a:r>
                      <a:r>
                        <a:rPr lang="en-US" sz="2500" baseline="0" dirty="0">
                          <a:latin typeface="+mn-lt"/>
                        </a:rPr>
                        <a:t> </a:t>
                      </a:r>
                      <a:r>
                        <a:rPr lang="en-US" sz="2500" dirty="0" err="1">
                          <a:latin typeface="+mn-lt"/>
                        </a:rPr>
                        <a:t>Xiaodi</a:t>
                      </a:r>
                      <a:r>
                        <a:rPr lang="en-US" sz="2500" dirty="0">
                          <a:latin typeface="+mn-lt"/>
                        </a:rPr>
                        <a:t> Wang</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Google Scholar</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76032">
                <a:tc>
                  <a:txBody>
                    <a:bodyPr/>
                    <a:lstStyle/>
                    <a:p>
                      <a:pPr algn="ctr">
                        <a:lnSpc>
                          <a:spcPts val="2800"/>
                        </a:lnSpc>
                        <a:defRPr/>
                      </a:pPr>
                      <a:r>
                        <a:rPr lang="en-US" sz="2500" dirty="0">
                          <a:latin typeface="+mn-lt"/>
                        </a:rPr>
                        <a:t>Sentiment </a:t>
                      </a:r>
                      <a:r>
                        <a:rPr lang="en-US" sz="2500" baseline="0" dirty="0">
                          <a:latin typeface="+mn-lt"/>
                        </a:rPr>
                        <a:t>- guided Common sense – aware Response Generation for Mental Health Counseling </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520"/>
                        </a:lnSpc>
                        <a:defRPr/>
                      </a:pPr>
                      <a:r>
                        <a:rPr lang="en-US" sz="2500" dirty="0" err="1">
                          <a:latin typeface="+mn-lt"/>
                        </a:rPr>
                        <a:t>Aseem</a:t>
                      </a:r>
                      <a:r>
                        <a:rPr lang="en-US" sz="2500" dirty="0">
                          <a:latin typeface="+mn-lt"/>
                        </a:rPr>
                        <a:t> Srivastava, </a:t>
                      </a:r>
                      <a:r>
                        <a:rPr lang="en-US" sz="2500" dirty="0" err="1">
                          <a:latin typeface="+mn-lt"/>
                        </a:rPr>
                        <a:t>Gauri</a:t>
                      </a:r>
                      <a:r>
                        <a:rPr lang="en-US" sz="2500" dirty="0">
                          <a:latin typeface="+mn-lt"/>
                        </a:rPr>
                        <a:t> </a:t>
                      </a:r>
                      <a:r>
                        <a:rPr lang="en-US" sz="2500" dirty="0" err="1">
                          <a:latin typeface="+mn-lt"/>
                        </a:rPr>
                        <a:t>Naik</a:t>
                      </a:r>
                      <a:r>
                        <a:rPr lang="en-US" sz="2500" dirty="0">
                          <a:latin typeface="+mn-lt"/>
                        </a:rPr>
                        <a:t>, Alison </a:t>
                      </a:r>
                      <a:r>
                        <a:rPr lang="en-US" sz="2500" dirty="0" err="1">
                          <a:latin typeface="+mn-lt"/>
                        </a:rPr>
                        <a:t>Cerezo</a:t>
                      </a:r>
                      <a:r>
                        <a:rPr lang="en-US" sz="2500" dirty="0">
                          <a:latin typeface="+mn-lt"/>
                        </a:rPr>
                        <a:t>, </a:t>
                      </a:r>
                      <a:r>
                        <a:rPr lang="en-US" sz="2500" dirty="0" err="1">
                          <a:latin typeface="+mn-lt"/>
                        </a:rPr>
                        <a:t>Tanmoy</a:t>
                      </a:r>
                      <a:r>
                        <a:rPr lang="en-US" sz="2500" dirty="0">
                          <a:latin typeface="+mn-lt"/>
                        </a:rPr>
                        <a:t> </a:t>
                      </a:r>
                      <a:r>
                        <a:rPr lang="en-US" sz="2500" dirty="0" err="1">
                          <a:latin typeface="+mn-lt"/>
                        </a:rPr>
                        <a:t>Chakroborty</a:t>
                      </a:r>
                      <a:r>
                        <a:rPr lang="en-US" sz="2500" dirty="0">
                          <a:latin typeface="+mn-lt"/>
                        </a:rPr>
                        <a:t>, Md. Shad Akhtar</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500" u="none" strike="noStrike" dirty="0">
                          <a:solidFill>
                            <a:srgbClr val="000000"/>
                          </a:solidFill>
                          <a:latin typeface="+mn-lt"/>
                          <a:ea typeface="Canva Sans"/>
                          <a:cs typeface="Canva Sans"/>
                          <a:sym typeface="Canva Sans"/>
                        </a:rPr>
                        <a:t>Google Scholar</a:t>
                      </a:r>
                      <a:endParaRPr lang="en-US" sz="2500" dirty="0">
                        <a:latin typeface="+mn-lt"/>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Freeform 15"/>
          <p:cNvSpPr/>
          <p:nvPr/>
        </p:nvSpPr>
        <p:spPr>
          <a:xfrm>
            <a:off x="-27762" y="-54802"/>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3083466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9051" y="-55764"/>
            <a:ext cx="18287998" cy="865389"/>
            <a:chOff x="0" y="0"/>
            <a:chExt cx="24383998" cy="1153852"/>
          </a:xfrm>
        </p:grpSpPr>
        <p:sp>
          <p:nvSpPr>
            <p:cNvPr id="4" name="Freeform 4"/>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5" name="TextBox 5"/>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7" name="Group 7"/>
          <p:cNvGrpSpPr/>
          <p:nvPr/>
        </p:nvGrpSpPr>
        <p:grpSpPr>
          <a:xfrm>
            <a:off x="-19051" y="432695"/>
            <a:ext cx="18383251" cy="748404"/>
            <a:chOff x="0" y="0"/>
            <a:chExt cx="24511001" cy="997875"/>
          </a:xfrm>
        </p:grpSpPr>
        <p:sp>
          <p:nvSpPr>
            <p:cNvPr id="8" name="Freeform 8"/>
            <p:cNvSpPr/>
            <p:nvPr/>
          </p:nvSpPr>
          <p:spPr>
            <a:xfrm>
              <a:off x="0" y="0"/>
              <a:ext cx="24384000" cy="858861"/>
            </a:xfrm>
            <a:custGeom>
              <a:avLst/>
              <a:gdLst/>
              <a:ahLst/>
              <a:cxnLst/>
              <a:rect l="l" t="t" r="r" b="b"/>
              <a:pathLst>
                <a:path w="24384000" h="858861">
                  <a:moveTo>
                    <a:pt x="0" y="0"/>
                  </a:moveTo>
                  <a:lnTo>
                    <a:pt x="24384000" y="0"/>
                  </a:lnTo>
                  <a:lnTo>
                    <a:pt x="24384000" y="858861"/>
                  </a:lnTo>
                  <a:lnTo>
                    <a:pt x="0" y="858861"/>
                  </a:lnTo>
                  <a:close/>
                </a:path>
              </a:pathLst>
            </a:custGeom>
            <a:solidFill>
              <a:srgbClr val="F2F2F2"/>
            </a:solidFill>
          </p:spPr>
        </p:sp>
        <p:sp>
          <p:nvSpPr>
            <p:cNvPr id="9" name="TextBox 9"/>
            <p:cNvSpPr txBox="1"/>
            <p:nvPr/>
          </p:nvSpPr>
          <p:spPr>
            <a:xfrm>
              <a:off x="127001" y="167544"/>
              <a:ext cx="24384000" cy="830331"/>
            </a:xfrm>
            <a:prstGeom prst="rect">
              <a:avLst/>
            </a:prstGeom>
          </p:spPr>
          <p:txBody>
            <a:bodyPr lIns="50800" tIns="50800" rIns="50800" bIns="50800" rtlCol="0" anchor="t"/>
            <a:lstStyle/>
            <a:p>
              <a:pPr algn="l">
                <a:lnSpc>
                  <a:spcPts val="3024"/>
                </a:lnSpc>
              </a:pPr>
              <a:r>
                <a:rPr lang="en-US" sz="3300" b="1" dirty="0">
                  <a:solidFill>
                    <a:srgbClr val="114B79"/>
                  </a:solidFill>
                  <a:latin typeface="Canva Sans Bold"/>
                  <a:ea typeface="Canva Sans Bold"/>
                  <a:cs typeface="Canva Sans Bold"/>
                  <a:sym typeface="Canva Sans Bold"/>
                </a:rPr>
                <a:t>Conclusion</a:t>
              </a:r>
            </a:p>
          </p:txBody>
        </p:sp>
      </p:grpSp>
      <p:sp>
        <p:nvSpPr>
          <p:cNvPr id="2" name="Rectangle 1"/>
          <p:cNvSpPr/>
          <p:nvPr/>
        </p:nvSpPr>
        <p:spPr>
          <a:xfrm>
            <a:off x="1219200" y="3373785"/>
            <a:ext cx="16002000" cy="3539430"/>
          </a:xfrm>
          <a:prstGeom prst="rect">
            <a:avLst/>
          </a:prstGeom>
        </p:spPr>
        <p:txBody>
          <a:bodyPr wrap="square">
            <a:spAutoFit/>
          </a:bodyPr>
          <a:lstStyle/>
          <a:p>
            <a:r>
              <a:rPr lang="en-US" sz="3200" dirty="0"/>
              <a:t>This project aims to build a supportive mobile app that helps youth and college students stay organized while also taking care of their emotional well-being. By combining journaling, habit tracking, reminders, and an AI companion, the app gives users a helpful space to manage their daily tasks and express their feelings. Although the AI is not a replacement for professional help, it offers friendly conversations and a place to share thoughts without judgment. Overall, the app is designed to encourage healthier routines, reduce stress, and provide students with a reliable tool they can turn to every day.</a:t>
            </a:r>
          </a:p>
        </p:txBody>
      </p:sp>
      <p:sp>
        <p:nvSpPr>
          <p:cNvPr id="10" name="Freeform 15"/>
          <p:cNvSpPr/>
          <p:nvPr/>
        </p:nvSpPr>
        <p:spPr>
          <a:xfrm>
            <a:off x="-19053" y="-64323"/>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3614386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9051" y="-55764"/>
            <a:ext cx="18287998" cy="865389"/>
            <a:chOff x="0" y="0"/>
            <a:chExt cx="24383998" cy="1153852"/>
          </a:xfrm>
        </p:grpSpPr>
        <p:sp>
          <p:nvSpPr>
            <p:cNvPr id="4" name="Freeform 4"/>
            <p:cNvSpPr/>
            <p:nvPr/>
          </p:nvSpPr>
          <p:spPr>
            <a:xfrm>
              <a:off x="0" y="0"/>
              <a:ext cx="24384000" cy="1153696"/>
            </a:xfrm>
            <a:custGeom>
              <a:avLst/>
              <a:gdLst/>
              <a:ahLst/>
              <a:cxnLst/>
              <a:rect l="l" t="t" r="r" b="b"/>
              <a:pathLst>
                <a:path w="24384000" h="1153696">
                  <a:moveTo>
                    <a:pt x="0" y="0"/>
                  </a:moveTo>
                  <a:lnTo>
                    <a:pt x="24384000" y="0"/>
                  </a:lnTo>
                  <a:lnTo>
                    <a:pt x="24384000" y="1153696"/>
                  </a:lnTo>
                  <a:lnTo>
                    <a:pt x="0" y="1153696"/>
                  </a:lnTo>
                  <a:close/>
                </a:path>
              </a:pathLst>
            </a:custGeom>
            <a:solidFill>
              <a:srgbClr val="002060"/>
            </a:solidFill>
          </p:spPr>
        </p:sp>
        <p:sp>
          <p:nvSpPr>
            <p:cNvPr id="5" name="TextBox 5"/>
            <p:cNvSpPr txBox="1"/>
            <p:nvPr/>
          </p:nvSpPr>
          <p:spPr>
            <a:xfrm>
              <a:off x="0" y="0"/>
              <a:ext cx="24383998" cy="1153852"/>
            </a:xfrm>
            <a:prstGeom prst="rect">
              <a:avLst/>
            </a:prstGeom>
          </p:spPr>
          <p:txBody>
            <a:bodyPr lIns="50800" tIns="50800" rIns="50800" bIns="50800" rtlCol="0" anchor="ctr"/>
            <a:lstStyle/>
            <a:p>
              <a:pPr algn="ctr">
                <a:lnSpc>
                  <a:spcPts val="2700"/>
                </a:lnSpc>
              </a:pPr>
              <a:endParaRPr/>
            </a:p>
            <a:p>
              <a:pPr algn="ctr">
                <a:lnSpc>
                  <a:spcPts val="2700"/>
                </a:lnSpc>
              </a:pPr>
              <a:endParaRPr/>
            </a:p>
          </p:txBody>
        </p:sp>
      </p:grpSp>
      <p:grpSp>
        <p:nvGrpSpPr>
          <p:cNvPr id="7" name="Group 7"/>
          <p:cNvGrpSpPr/>
          <p:nvPr/>
        </p:nvGrpSpPr>
        <p:grpSpPr>
          <a:xfrm>
            <a:off x="6927" y="4610100"/>
            <a:ext cx="18288000" cy="745836"/>
            <a:chOff x="0" y="-135541"/>
            <a:chExt cx="24384000" cy="994448"/>
          </a:xfrm>
        </p:grpSpPr>
        <p:sp>
          <p:nvSpPr>
            <p:cNvPr id="8" name="Freeform 8"/>
            <p:cNvSpPr/>
            <p:nvPr/>
          </p:nvSpPr>
          <p:spPr>
            <a:xfrm>
              <a:off x="0" y="-135541"/>
              <a:ext cx="24384000" cy="858863"/>
            </a:xfrm>
            <a:custGeom>
              <a:avLst/>
              <a:gdLst/>
              <a:ahLst/>
              <a:cxnLst/>
              <a:rect l="l" t="t" r="r" b="b"/>
              <a:pathLst>
                <a:path w="24384000" h="858861">
                  <a:moveTo>
                    <a:pt x="0" y="0"/>
                  </a:moveTo>
                  <a:lnTo>
                    <a:pt x="24384000" y="0"/>
                  </a:lnTo>
                  <a:lnTo>
                    <a:pt x="24384000" y="858861"/>
                  </a:lnTo>
                  <a:lnTo>
                    <a:pt x="0" y="858861"/>
                  </a:lnTo>
                  <a:close/>
                </a:path>
              </a:pathLst>
            </a:custGeom>
            <a:solidFill>
              <a:srgbClr val="F2F2F2"/>
            </a:solidFill>
          </p:spPr>
        </p:sp>
        <p:sp>
          <p:nvSpPr>
            <p:cNvPr id="9" name="TextBox 9"/>
            <p:cNvSpPr txBox="1"/>
            <p:nvPr/>
          </p:nvSpPr>
          <p:spPr>
            <a:xfrm>
              <a:off x="0" y="28575"/>
              <a:ext cx="24384000" cy="830332"/>
            </a:xfrm>
            <a:prstGeom prst="rect">
              <a:avLst/>
            </a:prstGeom>
          </p:spPr>
          <p:txBody>
            <a:bodyPr lIns="50800" tIns="50800" rIns="50800" bIns="50800" rtlCol="0" anchor="t"/>
            <a:lstStyle/>
            <a:p>
              <a:pPr algn="l">
                <a:lnSpc>
                  <a:spcPts val="3024"/>
                </a:lnSpc>
              </a:pPr>
              <a:r>
                <a:rPr lang="en-US" sz="2800" b="1" dirty="0">
                  <a:solidFill>
                    <a:srgbClr val="114B79"/>
                  </a:solidFill>
                  <a:latin typeface="Canva Sans Bold"/>
                  <a:ea typeface="Canva Sans Bold"/>
                  <a:cs typeface="Canva Sans Bold"/>
                  <a:sym typeface="Canva Sans Bold"/>
                </a:rPr>
                <a:t>                                                                                               THANK YOU !!</a:t>
              </a:r>
            </a:p>
          </p:txBody>
        </p:sp>
      </p:grpSp>
      <p:sp>
        <p:nvSpPr>
          <p:cNvPr id="10" name="Freeform 15"/>
          <p:cNvSpPr/>
          <p:nvPr/>
        </p:nvSpPr>
        <p:spPr>
          <a:xfrm>
            <a:off x="-19052" y="-48401"/>
            <a:ext cx="670560" cy="631236"/>
          </a:xfrm>
          <a:custGeom>
            <a:avLst/>
            <a:gdLst/>
            <a:ahLst/>
            <a:cxnLst/>
            <a:rect l="l" t="t" r="r" b="b"/>
            <a:pathLst>
              <a:path w="972325" h="850783">
                <a:moveTo>
                  <a:pt x="0" y="0"/>
                </a:moveTo>
                <a:lnTo>
                  <a:pt x="972326" y="0"/>
                </a:lnTo>
                <a:lnTo>
                  <a:pt x="972326" y="850784"/>
                </a:lnTo>
                <a:lnTo>
                  <a:pt x="0" y="850784"/>
                </a:lnTo>
                <a:lnTo>
                  <a:pt x="0" y="0"/>
                </a:lnTo>
                <a:close/>
              </a:path>
            </a:pathLst>
          </a:custGeom>
          <a:blipFill>
            <a:blip r:embed="rId3"/>
            <a:stretch>
              <a:fillRect/>
            </a:stretch>
          </a:blipFill>
        </p:spPr>
      </p:sp>
    </p:spTree>
    <p:extLst>
      <p:ext uri="{BB962C8B-B14F-4D97-AF65-F5344CB8AC3E}">
        <p14:creationId xmlns:p14="http://schemas.microsoft.com/office/powerpoint/2010/main" val="1706453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468</TotalTime>
  <Words>2144</Words>
  <Application>Microsoft Office PowerPoint</Application>
  <PresentationFormat>Custom</PresentationFormat>
  <Paragraphs>230</Paragraphs>
  <Slides>21</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vt:lpstr>
      <vt:lpstr>Canva Sans Bold</vt:lpstr>
      <vt:lpstr>Arial</vt:lpstr>
      <vt:lpstr>Canva Sans</vt:lpstr>
      <vt:lpstr>Canva Sans Italics</vt:lpstr>
      <vt:lpstr>CircularXXWeb</vt:lpstr>
      <vt:lpstr>Courier New</vt:lpstr>
      <vt:lpstr>Office Theme</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IPD PRESENTATION.pptx</dc:title>
  <dc:creator>Zalak Gala</dc:creator>
  <cp:lastModifiedBy>JIYA SHAH - 60004240095</cp:lastModifiedBy>
  <cp:revision>31</cp:revision>
  <dcterms:created xsi:type="dcterms:W3CDTF">2006-08-16T00:00:00Z</dcterms:created>
  <dcterms:modified xsi:type="dcterms:W3CDTF">2025-11-23T20:20:43Z</dcterms:modified>
  <dc:identifier>DAGXpcWllHM</dc:identifier>
</cp:coreProperties>
</file>